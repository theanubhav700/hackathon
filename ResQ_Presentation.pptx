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48272"/>
            <a:ext cx="12188952"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360152" cy="1280160"/>
          </a:xfrm>
          <a:prstGeom prst="rect">
            <a:avLst/>
          </a:prstGeom>
          <a:noFill/>
        </p:spPr>
        <p:txBody>
          <a:bodyPr wrap="square">
            <a:spAutoFit/>
          </a:bodyPr>
          <a:lstStyle/>
          <a:p>
            <a:pPr algn="ctr"/>
            <a:r>
              <a:rPr sz="7200" b="1">
                <a:solidFill>
                  <a:srgbClr val="FFFFFF"/>
                </a:solidFill>
                <a:latin typeface="Calibri"/>
              </a:rPr>
              <a:t>ResQ</a:t>
            </a:r>
          </a:p>
        </p:txBody>
      </p:sp>
      <p:sp>
        <p:nvSpPr>
          <p:cNvPr id="6" name="TextBox 5"/>
          <p:cNvSpPr txBox="1"/>
          <p:nvPr/>
        </p:nvSpPr>
        <p:spPr>
          <a:xfrm>
            <a:off x="914400" y="3108960"/>
            <a:ext cx="10360152" cy="914400"/>
          </a:xfrm>
          <a:prstGeom prst="rect">
            <a:avLst/>
          </a:prstGeom>
          <a:noFill/>
        </p:spPr>
        <p:txBody>
          <a:bodyPr wrap="square">
            <a:spAutoFit/>
          </a:bodyPr>
          <a:lstStyle/>
          <a:p>
            <a:pPr algn="ctr"/>
            <a:r>
              <a:rPr sz="2400" b="0">
                <a:solidFill>
                  <a:srgbClr val="CCCCCC"/>
                </a:solidFill>
                <a:latin typeface="Calibri"/>
              </a:rPr>
              <a:t>Smart Ambulance Route Optimization &amp; Hospital Pre-Admission</a:t>
            </a:r>
          </a:p>
        </p:txBody>
      </p:sp>
      <p:sp>
        <p:nvSpPr>
          <p:cNvPr id="7" name="TextBox 6"/>
          <p:cNvSpPr txBox="1"/>
          <p:nvPr/>
        </p:nvSpPr>
        <p:spPr>
          <a:xfrm>
            <a:off x="914400" y="4206240"/>
            <a:ext cx="10360152" cy="548640"/>
          </a:xfrm>
          <a:prstGeom prst="rect">
            <a:avLst/>
          </a:prstGeom>
          <a:noFill/>
        </p:spPr>
        <p:txBody>
          <a:bodyPr wrap="square">
            <a:spAutoFit/>
          </a:bodyPr>
          <a:lstStyle/>
          <a:p>
            <a:pPr algn="ctr"/>
            <a:r>
              <a:rPr sz="1800" b="0">
                <a:solidFill>
                  <a:srgbClr val="999999"/>
                </a:solidFill>
                <a:latin typeface="Calibri"/>
              </a:rPr>
              <a:t>Smart India Hackathon 2026</a:t>
            </a:r>
          </a:p>
        </p:txBody>
      </p:sp>
      <p:sp>
        <p:nvSpPr>
          <p:cNvPr id="8" name="TextBox 7"/>
          <p:cNvSpPr txBox="1"/>
          <p:nvPr/>
        </p:nvSpPr>
        <p:spPr>
          <a:xfrm>
            <a:off x="11430000" y="6492240"/>
            <a:ext cx="640080" cy="274320"/>
          </a:xfrm>
          <a:prstGeom prst="rect">
            <a:avLst/>
          </a:prstGeom>
          <a:noFill/>
        </p:spPr>
        <p:txBody>
          <a:bodyPr wrap="square">
            <a:spAutoFit/>
          </a:bodyPr>
          <a:lstStyle/>
          <a:p>
            <a:pPr algn="r"/>
            <a:r>
              <a:rPr sz="1000" b="0">
                <a:solidFill>
                  <a:srgbClr val="666666"/>
                </a:solidFill>
                <a:latin typeface="Calibri"/>
              </a:rPr>
              <a:t>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
            <a:ext cx="10972800" cy="640080"/>
          </a:xfrm>
          <a:prstGeom prst="rect">
            <a:avLst/>
          </a:prstGeom>
          <a:noFill/>
        </p:spPr>
        <p:txBody>
          <a:bodyPr wrap="square">
            <a:spAutoFit/>
          </a:bodyPr>
          <a:lstStyle/>
          <a:p>
            <a:pPr algn="l"/>
            <a:r>
              <a:rPr sz="3200" b="1">
                <a:solidFill>
                  <a:srgbClr val="1A1A2E"/>
                </a:solidFill>
                <a:latin typeface="Calibri"/>
              </a:rPr>
              <a:t>The Problem</a:t>
            </a:r>
          </a:p>
        </p:txBody>
      </p:sp>
      <p:sp>
        <p:nvSpPr>
          <p:cNvPr id="6" name="Rectangle 5"/>
          <p:cNvSpPr/>
          <p:nvPr/>
        </p:nvSpPr>
        <p:spPr>
          <a:xfrm>
            <a:off x="457200" y="868680"/>
            <a:ext cx="2286000" cy="36576"/>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97280"/>
            <a:ext cx="11247120" cy="1097280"/>
          </a:xfrm>
          <a:prstGeom prst="rect">
            <a:avLst/>
          </a:prstGeom>
          <a:noFill/>
        </p:spPr>
        <p:txBody>
          <a:bodyPr wrap="square">
            <a:spAutoFit/>
          </a:bodyPr>
          <a:lstStyle/>
          <a:p>
            <a:pPr algn="l">
              <a:spcAft>
                <a:spcPts val="400"/>
              </a:spcAft>
            </a:pPr>
            <a:r>
              <a:rPr sz="1800" b="1">
                <a:solidFill>
                  <a:srgbClr val="222222"/>
                </a:solidFill>
                <a:latin typeface="Calibri"/>
              </a:rPr>
              <a:t>Every minute matters in a medical emergency.</a:t>
            </a:r>
          </a:p>
          <a:p>
            <a:pPr algn="l">
              <a:spcAft>
                <a:spcPts val="400"/>
              </a:spcAft>
            </a:pPr>
            <a:r>
              <a:rPr sz="1800" b="0">
                <a:solidFill>
                  <a:srgbClr val="222222"/>
                </a:solidFill>
                <a:latin typeface="Calibri"/>
              </a:rPr>
              <a:t/>
            </a:r>
          </a:p>
          <a:p>
            <a:pPr algn="l">
              <a:spcAft>
                <a:spcPts val="400"/>
              </a:spcAft>
            </a:pPr>
            <a:r>
              <a:rPr sz="1800" b="0">
                <a:solidFill>
                  <a:srgbClr val="222222"/>
                </a:solidFill>
                <a:latin typeface="Calibri"/>
              </a:rPr>
              <a:t>But today, two critical problems make ambulances slow and hospitals unprepared:</a:t>
            </a:r>
          </a:p>
        </p:txBody>
      </p:sp>
      <p:sp>
        <p:nvSpPr>
          <p:cNvPr id="8" name="Rectangle 7"/>
          <p:cNvSpPr/>
          <p:nvPr/>
        </p:nvSpPr>
        <p:spPr>
          <a:xfrm>
            <a:off x="457200" y="2377440"/>
            <a:ext cx="5303520" cy="2560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514600"/>
            <a:ext cx="4937760" cy="2286000"/>
          </a:xfrm>
          <a:prstGeom prst="rect">
            <a:avLst/>
          </a:prstGeom>
          <a:noFill/>
        </p:spPr>
        <p:txBody>
          <a:bodyPr wrap="square">
            <a:spAutoFit/>
          </a:bodyPr>
          <a:lstStyle/>
          <a:p>
            <a:pPr algn="l">
              <a:spcAft>
                <a:spcPts val="400"/>
              </a:spcAft>
            </a:pPr>
            <a:r>
              <a:rPr sz="1500" b="1">
                <a:solidFill>
                  <a:srgbClr val="222222"/>
                </a:solidFill>
                <a:latin typeface="Calibri"/>
              </a:rPr>
              <a:t>Problem 1</a:t>
            </a:r>
          </a:p>
          <a:p>
            <a:pPr algn="l">
              <a:spcAft>
                <a:spcPts val="400"/>
              </a:spcAft>
            </a:pPr>
            <a:r>
              <a:rPr sz="1500" b="0">
                <a:solidFill>
                  <a:srgbClr val="222222"/>
                </a:solidFill>
                <a:latin typeface="Calibri"/>
              </a:rPr>
              <a:t/>
            </a:r>
          </a:p>
          <a:p>
            <a:pPr algn="l">
              <a:spcAft>
                <a:spcPts val="400"/>
              </a:spcAft>
            </a:pPr>
            <a:r>
              <a:rPr sz="1500" b="0">
                <a:solidFill>
                  <a:srgbClr val="222222"/>
                </a:solidFill>
                <a:latin typeface="Calibri"/>
              </a:rPr>
              <a:t>Ambulances get stuck in traffic.</a:t>
            </a:r>
          </a:p>
          <a:p>
            <a:pPr algn="l">
              <a:spcAft>
                <a:spcPts val="400"/>
              </a:spcAft>
            </a:pPr>
            <a:r>
              <a:rPr sz="1500" b="0">
                <a:solidFill>
                  <a:srgbClr val="222222"/>
                </a:solidFill>
                <a:latin typeface="Calibri"/>
              </a:rPr>
              <a:t/>
            </a:r>
          </a:p>
          <a:p>
            <a:pPr algn="l">
              <a:spcAft>
                <a:spcPts val="400"/>
              </a:spcAft>
            </a:pPr>
            <a:r>
              <a:rPr sz="1500" b="0">
                <a:solidFill>
                  <a:srgbClr val="222222"/>
                </a:solidFill>
                <a:latin typeface="Calibri"/>
              </a:rPr>
              <a:t>There is no system to automatically clear the road for an ambulance. Traffic signals work on normal cycles and do not know an ambulance is approaching.</a:t>
            </a:r>
          </a:p>
        </p:txBody>
      </p:sp>
      <p:sp>
        <p:nvSpPr>
          <p:cNvPr id="10" name="Rectangle 9"/>
          <p:cNvSpPr/>
          <p:nvPr/>
        </p:nvSpPr>
        <p:spPr>
          <a:xfrm>
            <a:off x="6309360" y="2377440"/>
            <a:ext cx="5394960" cy="2560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514600"/>
            <a:ext cx="5029200" cy="2286000"/>
          </a:xfrm>
          <a:prstGeom prst="rect">
            <a:avLst/>
          </a:prstGeom>
          <a:noFill/>
        </p:spPr>
        <p:txBody>
          <a:bodyPr wrap="square">
            <a:spAutoFit/>
          </a:bodyPr>
          <a:lstStyle/>
          <a:p>
            <a:pPr algn="l">
              <a:spcAft>
                <a:spcPts val="400"/>
              </a:spcAft>
            </a:pPr>
            <a:r>
              <a:rPr sz="1500" b="1">
                <a:solidFill>
                  <a:srgbClr val="222222"/>
                </a:solidFill>
                <a:latin typeface="Calibri"/>
              </a:rPr>
              <a:t>Problem 2</a:t>
            </a:r>
          </a:p>
          <a:p>
            <a:pPr algn="l">
              <a:spcAft>
                <a:spcPts val="400"/>
              </a:spcAft>
            </a:pPr>
            <a:r>
              <a:rPr sz="1500" b="0">
                <a:solidFill>
                  <a:srgbClr val="222222"/>
                </a:solidFill>
                <a:latin typeface="Calibri"/>
              </a:rPr>
              <a:t/>
            </a:r>
          </a:p>
          <a:p>
            <a:pPr algn="l">
              <a:spcAft>
                <a:spcPts val="400"/>
              </a:spcAft>
            </a:pPr>
            <a:r>
              <a:rPr sz="1500" b="0">
                <a:solidFill>
                  <a:srgbClr val="222222"/>
                </a:solidFill>
                <a:latin typeface="Calibri"/>
              </a:rPr>
              <a:t>Hospitals are unprepared for critical patients.</a:t>
            </a:r>
          </a:p>
          <a:p>
            <a:pPr algn="l">
              <a:spcAft>
                <a:spcPts val="400"/>
              </a:spcAft>
            </a:pPr>
            <a:r>
              <a:rPr sz="1500" b="0">
                <a:solidFill>
                  <a:srgbClr val="222222"/>
                </a:solidFill>
                <a:latin typeface="Calibri"/>
              </a:rPr>
              <a:t/>
            </a:r>
          </a:p>
          <a:p>
            <a:pPr algn="l">
              <a:spcAft>
                <a:spcPts val="400"/>
              </a:spcAft>
            </a:pPr>
            <a:r>
              <a:rPr sz="1500" b="0">
                <a:solidFill>
                  <a:srgbClr val="222222"/>
                </a:solidFill>
                <a:latin typeface="Calibri"/>
              </a:rPr>
              <a:t>The ER team has no information about the patient's condition before the ambulance arrives. Precious minutes are wasted at the hospital door.</a:t>
            </a:r>
          </a:p>
        </p:txBody>
      </p:sp>
      <p:sp>
        <p:nvSpPr>
          <p:cNvPr id="12" name="TextBox 11"/>
          <p:cNvSpPr txBox="1"/>
          <p:nvPr/>
        </p:nvSpPr>
        <p:spPr>
          <a:xfrm>
            <a:off x="457200" y="5166360"/>
            <a:ext cx="11247120" cy="548640"/>
          </a:xfrm>
          <a:prstGeom prst="rect">
            <a:avLst/>
          </a:prstGeom>
          <a:noFill/>
        </p:spPr>
        <p:txBody>
          <a:bodyPr wrap="square">
            <a:spAutoFit/>
          </a:bodyPr>
          <a:lstStyle/>
          <a:p>
            <a:pPr algn="ctr"/>
            <a:r>
              <a:rPr sz="1600" b="1">
                <a:solidFill>
                  <a:srgbClr val="CC0000"/>
                </a:solidFill>
                <a:latin typeface="Calibri"/>
              </a:rPr>
              <a:t>Result: Patients lose golden minutes — the most critical window for survival.</a:t>
            </a:r>
          </a:p>
        </p:txBody>
      </p:sp>
      <p:sp>
        <p:nvSpPr>
          <p:cNvPr id="13" name="TextBox 12"/>
          <p:cNvSpPr txBox="1"/>
          <p:nvPr/>
        </p:nvSpPr>
        <p:spPr>
          <a:xfrm>
            <a:off x="11430000" y="6492240"/>
            <a:ext cx="640080" cy="274320"/>
          </a:xfrm>
          <a:prstGeom prst="rect">
            <a:avLst/>
          </a:prstGeom>
          <a:noFill/>
        </p:spPr>
        <p:txBody>
          <a:bodyPr wrap="square">
            <a:spAutoFit/>
          </a:bodyPr>
          <a:lstStyle/>
          <a:p>
            <a:pPr algn="r"/>
            <a:r>
              <a:rPr sz="1000" b="0">
                <a:solidFill>
                  <a:srgbClr val="999999"/>
                </a:solidFill>
                <a:latin typeface="Calibri"/>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
            <a:ext cx="10972800" cy="640080"/>
          </a:xfrm>
          <a:prstGeom prst="rect">
            <a:avLst/>
          </a:prstGeom>
          <a:noFill/>
        </p:spPr>
        <p:txBody>
          <a:bodyPr wrap="square">
            <a:spAutoFit/>
          </a:bodyPr>
          <a:lstStyle/>
          <a:p>
            <a:pPr algn="l"/>
            <a:r>
              <a:rPr sz="3200" b="1">
                <a:solidFill>
                  <a:srgbClr val="1A1A2E"/>
                </a:solidFill>
                <a:latin typeface="Calibri"/>
              </a:rPr>
              <a:t>Our Solution — ResQ</a:t>
            </a:r>
          </a:p>
        </p:txBody>
      </p:sp>
      <p:sp>
        <p:nvSpPr>
          <p:cNvPr id="6" name="Rectangle 5"/>
          <p:cNvSpPr/>
          <p:nvPr/>
        </p:nvSpPr>
        <p:spPr>
          <a:xfrm>
            <a:off x="457200" y="868680"/>
            <a:ext cx="2743200" cy="36576"/>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51560"/>
            <a:ext cx="11247120" cy="822960"/>
          </a:xfrm>
          <a:prstGeom prst="rect">
            <a:avLst/>
          </a:prstGeom>
          <a:noFill/>
        </p:spPr>
        <p:txBody>
          <a:bodyPr wrap="square">
            <a:spAutoFit/>
          </a:bodyPr>
          <a:lstStyle/>
          <a:p>
            <a:pPr algn="l"/>
            <a:r>
              <a:rPr sz="1700" b="0">
                <a:solidFill>
                  <a:srgbClr val="222222"/>
                </a:solidFill>
                <a:latin typeface="Calibri"/>
              </a:rPr>
              <a:t>ResQ connects the patient, ambulance driver, admin dispatcher, and hospital ER into one real-time platform — from the moment a patient needs help to the moment they reach the ER.</a:t>
            </a:r>
          </a:p>
        </p:txBody>
      </p:sp>
      <p:sp>
        <p:nvSpPr>
          <p:cNvPr id="8" name="Rectangle 7"/>
          <p:cNvSpPr/>
          <p:nvPr/>
        </p:nvSpPr>
        <p:spPr>
          <a:xfrm>
            <a:off x="365760" y="2103120"/>
            <a:ext cx="2743200" cy="3291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240279"/>
            <a:ext cx="2468880" cy="3017520"/>
          </a:xfrm>
          <a:prstGeom prst="rect">
            <a:avLst/>
          </a:prstGeom>
          <a:noFill/>
        </p:spPr>
        <p:txBody>
          <a:bodyPr wrap="square">
            <a:spAutoFit/>
          </a:bodyPr>
          <a:lstStyle/>
          <a:p>
            <a:pPr algn="l">
              <a:spcAft>
                <a:spcPts val="400"/>
              </a:spcAft>
            </a:pPr>
            <a:r>
              <a:rPr sz="1400" b="1">
                <a:solidFill>
                  <a:srgbClr val="222222"/>
                </a:solidFill>
                <a:latin typeface="Calibri"/>
              </a:rPr>
              <a:t>Patient</a:t>
            </a:r>
          </a:p>
          <a:p>
            <a:pPr algn="l">
              <a:spcAft>
                <a:spcPts val="400"/>
              </a:spcAft>
            </a:pPr>
            <a:r>
              <a:rPr sz="1400" b="0">
                <a:solidFill>
                  <a:srgbClr val="222222"/>
                </a:solidFill>
                <a:latin typeface="Calibri"/>
              </a:rPr>
              <a:t/>
            </a:r>
          </a:p>
          <a:p>
            <a:pPr algn="l">
              <a:spcAft>
                <a:spcPts val="400"/>
              </a:spcAft>
            </a:pPr>
            <a:r>
              <a:rPr sz="1400" b="0">
                <a:solidFill>
                  <a:srgbClr val="222222"/>
                </a:solidFill>
                <a:latin typeface="Calibri"/>
              </a:rPr>
              <a:t>Books ambulance in seconds with one tap. Location is detected automatically.</a:t>
            </a:r>
          </a:p>
        </p:txBody>
      </p:sp>
      <p:sp>
        <p:nvSpPr>
          <p:cNvPr id="10" name="Rectangle 9"/>
          <p:cNvSpPr/>
          <p:nvPr/>
        </p:nvSpPr>
        <p:spPr>
          <a:xfrm>
            <a:off x="3246120" y="2103120"/>
            <a:ext cx="2743200" cy="3291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79" y="2240279"/>
            <a:ext cx="2468880" cy="3017520"/>
          </a:xfrm>
          <a:prstGeom prst="rect">
            <a:avLst/>
          </a:prstGeom>
          <a:noFill/>
        </p:spPr>
        <p:txBody>
          <a:bodyPr wrap="square">
            <a:spAutoFit/>
          </a:bodyPr>
          <a:lstStyle/>
          <a:p>
            <a:pPr algn="l">
              <a:spcAft>
                <a:spcPts val="400"/>
              </a:spcAft>
            </a:pPr>
            <a:r>
              <a:rPr sz="1400" b="1">
                <a:solidFill>
                  <a:srgbClr val="222222"/>
                </a:solidFill>
                <a:latin typeface="Calibri"/>
              </a:rPr>
              <a:t>Admin</a:t>
            </a:r>
          </a:p>
          <a:p>
            <a:pPr algn="l">
              <a:spcAft>
                <a:spcPts val="400"/>
              </a:spcAft>
            </a:pPr>
            <a:r>
              <a:rPr sz="1400" b="0">
                <a:solidFill>
                  <a:srgbClr val="222222"/>
                </a:solidFill>
                <a:latin typeface="Calibri"/>
              </a:rPr>
              <a:t/>
            </a:r>
          </a:p>
          <a:p>
            <a:pPr algn="l">
              <a:spcAft>
                <a:spcPts val="400"/>
              </a:spcAft>
            </a:pPr>
            <a:r>
              <a:rPr sz="1400" b="0">
                <a:solidFill>
                  <a:srgbClr val="222222"/>
                </a:solidFill>
                <a:latin typeface="Calibri"/>
              </a:rPr>
              <a:t>Sees all active emergencies live and manages the entire ambulance fleet.</a:t>
            </a:r>
          </a:p>
        </p:txBody>
      </p:sp>
      <p:sp>
        <p:nvSpPr>
          <p:cNvPr id="12" name="Rectangle 11"/>
          <p:cNvSpPr/>
          <p:nvPr/>
        </p:nvSpPr>
        <p:spPr>
          <a:xfrm>
            <a:off x="6126480" y="2103120"/>
            <a:ext cx="2743200" cy="3291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63640" y="2240279"/>
            <a:ext cx="2468880" cy="3017520"/>
          </a:xfrm>
          <a:prstGeom prst="rect">
            <a:avLst/>
          </a:prstGeom>
          <a:noFill/>
        </p:spPr>
        <p:txBody>
          <a:bodyPr wrap="square">
            <a:spAutoFit/>
          </a:bodyPr>
          <a:lstStyle/>
          <a:p>
            <a:pPr algn="l">
              <a:spcAft>
                <a:spcPts val="400"/>
              </a:spcAft>
            </a:pPr>
            <a:r>
              <a:rPr sz="1400" b="1">
                <a:solidFill>
                  <a:srgbClr val="222222"/>
                </a:solidFill>
                <a:latin typeface="Calibri"/>
              </a:rPr>
              <a:t>Driver</a:t>
            </a:r>
          </a:p>
          <a:p>
            <a:pPr algn="l">
              <a:spcAft>
                <a:spcPts val="400"/>
              </a:spcAft>
            </a:pPr>
            <a:r>
              <a:rPr sz="1400" b="0">
                <a:solidFill>
                  <a:srgbClr val="222222"/>
                </a:solidFill>
                <a:latin typeface="Calibri"/>
              </a:rPr>
              <a:t/>
            </a:r>
          </a:p>
          <a:p>
            <a:pPr algn="l">
              <a:spcAft>
                <a:spcPts val="400"/>
              </a:spcAft>
            </a:pPr>
            <a:r>
              <a:rPr sz="1400" b="0">
                <a:solidFill>
                  <a:srgbClr val="222222"/>
                </a:solidFill>
                <a:latin typeface="Calibri"/>
              </a:rPr>
              <a:t>Gets the booking instantly, navigates to the patient, and sends patient data to the hospital while driving.</a:t>
            </a:r>
          </a:p>
        </p:txBody>
      </p:sp>
      <p:sp>
        <p:nvSpPr>
          <p:cNvPr id="14" name="Rectangle 13"/>
          <p:cNvSpPr/>
          <p:nvPr/>
        </p:nvSpPr>
        <p:spPr>
          <a:xfrm>
            <a:off x="9006840" y="2103120"/>
            <a:ext cx="2743200" cy="3291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2240279"/>
            <a:ext cx="2468880" cy="3017520"/>
          </a:xfrm>
          <a:prstGeom prst="rect">
            <a:avLst/>
          </a:prstGeom>
          <a:noFill/>
        </p:spPr>
        <p:txBody>
          <a:bodyPr wrap="square">
            <a:spAutoFit/>
          </a:bodyPr>
          <a:lstStyle/>
          <a:p>
            <a:pPr algn="l">
              <a:spcAft>
                <a:spcPts val="400"/>
              </a:spcAft>
            </a:pPr>
            <a:r>
              <a:rPr sz="1400" b="1">
                <a:solidFill>
                  <a:srgbClr val="222222"/>
                </a:solidFill>
                <a:latin typeface="Calibri"/>
              </a:rPr>
              <a:t>Hospital ER</a:t>
            </a:r>
          </a:p>
          <a:p>
            <a:pPr algn="l">
              <a:spcAft>
                <a:spcPts val="400"/>
              </a:spcAft>
            </a:pPr>
            <a:r>
              <a:rPr sz="1400" b="0">
                <a:solidFill>
                  <a:srgbClr val="222222"/>
                </a:solidFill>
                <a:latin typeface="Calibri"/>
              </a:rPr>
              <a:t/>
            </a:r>
          </a:p>
          <a:p>
            <a:pPr algn="l">
              <a:spcAft>
                <a:spcPts val="400"/>
              </a:spcAft>
            </a:pPr>
            <a:r>
              <a:rPr sz="1400" b="0">
                <a:solidFill>
                  <a:srgbClr val="222222"/>
                </a:solidFill>
                <a:latin typeface="Calibri"/>
              </a:rPr>
              <a:t>Receives live patient vitals and ECG before the ambulance even arrives.</a:t>
            </a:r>
          </a:p>
        </p:txBody>
      </p:sp>
      <p:sp>
        <p:nvSpPr>
          <p:cNvPr id="16" name="TextBox 15"/>
          <p:cNvSpPr txBox="1"/>
          <p:nvPr/>
        </p:nvSpPr>
        <p:spPr>
          <a:xfrm>
            <a:off x="11430000" y="6492240"/>
            <a:ext cx="640080" cy="274320"/>
          </a:xfrm>
          <a:prstGeom prst="rect">
            <a:avLst/>
          </a:prstGeom>
          <a:noFill/>
        </p:spPr>
        <p:txBody>
          <a:bodyPr wrap="square">
            <a:spAutoFit/>
          </a:bodyPr>
          <a:lstStyle/>
          <a:p>
            <a:pPr algn="r"/>
            <a:r>
              <a:rPr sz="1000" b="0">
                <a:solidFill>
                  <a:srgbClr val="999999"/>
                </a:solidFill>
                <a:latin typeface="Calibri"/>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
            <a:ext cx="10972800" cy="640080"/>
          </a:xfrm>
          <a:prstGeom prst="rect">
            <a:avLst/>
          </a:prstGeom>
          <a:noFill/>
        </p:spPr>
        <p:txBody>
          <a:bodyPr wrap="square">
            <a:spAutoFit/>
          </a:bodyPr>
          <a:lstStyle/>
          <a:p>
            <a:pPr algn="l"/>
            <a:r>
              <a:rPr sz="3200" b="1">
                <a:solidFill>
                  <a:srgbClr val="1A1A2E"/>
                </a:solidFill>
                <a:latin typeface="Calibri"/>
              </a:rPr>
              <a:t>Feature 1 — Patient Booking</a:t>
            </a:r>
          </a:p>
        </p:txBody>
      </p:sp>
      <p:sp>
        <p:nvSpPr>
          <p:cNvPr id="6" name="Rectangle 5"/>
          <p:cNvSpPr/>
          <p:nvPr/>
        </p:nvSpPr>
        <p:spPr>
          <a:xfrm>
            <a:off x="457200" y="868680"/>
            <a:ext cx="3200400" cy="36576"/>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097280"/>
            <a:ext cx="1097280" cy="685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97280"/>
            <a:ext cx="1097280" cy="685800"/>
          </a:xfrm>
          <a:prstGeom prst="rect">
            <a:avLst/>
          </a:prstGeom>
          <a:noFill/>
        </p:spPr>
        <p:txBody>
          <a:bodyPr wrap="square">
            <a:spAutoFit/>
          </a:bodyPr>
          <a:lstStyle/>
          <a:p>
            <a:pPr algn="ctr"/>
            <a:r>
              <a:rPr sz="1300" b="1">
                <a:solidFill>
                  <a:srgbClr val="FFFFFF"/>
                </a:solidFill>
                <a:latin typeface="Calibri"/>
              </a:rPr>
              <a:t>Step 1</a:t>
            </a:r>
          </a:p>
        </p:txBody>
      </p:sp>
      <p:sp>
        <p:nvSpPr>
          <p:cNvPr id="9" name="TextBox 8"/>
          <p:cNvSpPr txBox="1"/>
          <p:nvPr/>
        </p:nvSpPr>
        <p:spPr>
          <a:xfrm>
            <a:off x="1737360" y="1143000"/>
            <a:ext cx="9875520" cy="640080"/>
          </a:xfrm>
          <a:prstGeom prst="rect">
            <a:avLst/>
          </a:prstGeom>
          <a:noFill/>
        </p:spPr>
        <p:txBody>
          <a:bodyPr wrap="square">
            <a:spAutoFit/>
          </a:bodyPr>
          <a:lstStyle/>
          <a:p>
            <a:pPr algn="l">
              <a:spcAft>
                <a:spcPts val="400"/>
              </a:spcAft>
            </a:pPr>
            <a:r>
              <a:rPr sz="1500" b="0">
                <a:solidFill>
                  <a:srgbClr val="222222"/>
                </a:solidFill>
                <a:latin typeface="Calibri"/>
              </a:rPr>
              <a:t>Patient opens ResQ and their location is detected automatically using GPS.</a:t>
            </a:r>
          </a:p>
        </p:txBody>
      </p:sp>
      <p:sp>
        <p:nvSpPr>
          <p:cNvPr id="10" name="Rectangle 9"/>
          <p:cNvSpPr/>
          <p:nvPr/>
        </p:nvSpPr>
        <p:spPr>
          <a:xfrm>
            <a:off x="457200" y="2103120"/>
            <a:ext cx="1097280" cy="685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103120"/>
            <a:ext cx="1097280" cy="685800"/>
          </a:xfrm>
          <a:prstGeom prst="rect">
            <a:avLst/>
          </a:prstGeom>
          <a:noFill/>
        </p:spPr>
        <p:txBody>
          <a:bodyPr wrap="square">
            <a:spAutoFit/>
          </a:bodyPr>
          <a:lstStyle/>
          <a:p>
            <a:pPr algn="ctr"/>
            <a:r>
              <a:rPr sz="1300" b="1">
                <a:solidFill>
                  <a:srgbClr val="FFFFFF"/>
                </a:solidFill>
                <a:latin typeface="Calibri"/>
              </a:rPr>
              <a:t>Step 2</a:t>
            </a:r>
          </a:p>
        </p:txBody>
      </p:sp>
      <p:sp>
        <p:nvSpPr>
          <p:cNvPr id="12" name="TextBox 11"/>
          <p:cNvSpPr txBox="1"/>
          <p:nvPr/>
        </p:nvSpPr>
        <p:spPr>
          <a:xfrm>
            <a:off x="1737360" y="2148839"/>
            <a:ext cx="9875520" cy="640080"/>
          </a:xfrm>
          <a:prstGeom prst="rect">
            <a:avLst/>
          </a:prstGeom>
          <a:noFill/>
        </p:spPr>
        <p:txBody>
          <a:bodyPr wrap="square">
            <a:spAutoFit/>
          </a:bodyPr>
          <a:lstStyle/>
          <a:p>
            <a:pPr algn="l">
              <a:spcAft>
                <a:spcPts val="400"/>
              </a:spcAft>
            </a:pPr>
            <a:r>
              <a:rPr sz="1500" b="0">
                <a:solidFill>
                  <a:srgbClr val="222222"/>
                </a:solidFill>
                <a:latin typeface="Calibri"/>
              </a:rPr>
              <a:t>Patient selects the type of emergency — Cardiac Arrest, Accident, Stroke, Maternity, and more.</a:t>
            </a:r>
          </a:p>
        </p:txBody>
      </p:sp>
      <p:sp>
        <p:nvSpPr>
          <p:cNvPr id="13" name="Rectangle 12"/>
          <p:cNvSpPr/>
          <p:nvPr/>
        </p:nvSpPr>
        <p:spPr>
          <a:xfrm>
            <a:off x="457200" y="3108960"/>
            <a:ext cx="1097280" cy="685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3108960"/>
            <a:ext cx="1097280" cy="685800"/>
          </a:xfrm>
          <a:prstGeom prst="rect">
            <a:avLst/>
          </a:prstGeom>
          <a:noFill/>
        </p:spPr>
        <p:txBody>
          <a:bodyPr wrap="square">
            <a:spAutoFit/>
          </a:bodyPr>
          <a:lstStyle/>
          <a:p>
            <a:pPr algn="ctr"/>
            <a:r>
              <a:rPr sz="1300" b="1">
                <a:solidFill>
                  <a:srgbClr val="FFFFFF"/>
                </a:solidFill>
                <a:latin typeface="Calibri"/>
              </a:rPr>
              <a:t>Step 3</a:t>
            </a:r>
          </a:p>
        </p:txBody>
      </p:sp>
      <p:sp>
        <p:nvSpPr>
          <p:cNvPr id="15" name="TextBox 14"/>
          <p:cNvSpPr txBox="1"/>
          <p:nvPr/>
        </p:nvSpPr>
        <p:spPr>
          <a:xfrm>
            <a:off x="1737360" y="3154680"/>
            <a:ext cx="9875520" cy="640080"/>
          </a:xfrm>
          <a:prstGeom prst="rect">
            <a:avLst/>
          </a:prstGeom>
          <a:noFill/>
        </p:spPr>
        <p:txBody>
          <a:bodyPr wrap="square">
            <a:spAutoFit/>
          </a:bodyPr>
          <a:lstStyle/>
          <a:p>
            <a:pPr algn="l">
              <a:spcAft>
                <a:spcPts val="400"/>
              </a:spcAft>
            </a:pPr>
            <a:r>
              <a:rPr sz="1500" b="0">
                <a:solidFill>
                  <a:srgbClr val="222222"/>
                </a:solidFill>
                <a:latin typeface="Calibri"/>
              </a:rPr>
              <a:t>Available ambulances near the patient are shown with distance and estimated arrival time.</a:t>
            </a:r>
          </a:p>
        </p:txBody>
      </p:sp>
      <p:sp>
        <p:nvSpPr>
          <p:cNvPr id="16" name="Rectangle 15"/>
          <p:cNvSpPr/>
          <p:nvPr/>
        </p:nvSpPr>
        <p:spPr>
          <a:xfrm>
            <a:off x="457200" y="4114800"/>
            <a:ext cx="1097280" cy="685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114800"/>
            <a:ext cx="1097280" cy="685800"/>
          </a:xfrm>
          <a:prstGeom prst="rect">
            <a:avLst/>
          </a:prstGeom>
          <a:noFill/>
        </p:spPr>
        <p:txBody>
          <a:bodyPr wrap="square">
            <a:spAutoFit/>
          </a:bodyPr>
          <a:lstStyle/>
          <a:p>
            <a:pPr algn="ctr"/>
            <a:r>
              <a:rPr sz="1300" b="1">
                <a:solidFill>
                  <a:srgbClr val="FFFFFF"/>
                </a:solidFill>
                <a:latin typeface="Calibri"/>
              </a:rPr>
              <a:t>Step 4</a:t>
            </a:r>
          </a:p>
        </p:txBody>
      </p:sp>
      <p:sp>
        <p:nvSpPr>
          <p:cNvPr id="18" name="TextBox 17"/>
          <p:cNvSpPr txBox="1"/>
          <p:nvPr/>
        </p:nvSpPr>
        <p:spPr>
          <a:xfrm>
            <a:off x="1737360" y="4160520"/>
            <a:ext cx="9875520" cy="640080"/>
          </a:xfrm>
          <a:prstGeom prst="rect">
            <a:avLst/>
          </a:prstGeom>
          <a:noFill/>
        </p:spPr>
        <p:txBody>
          <a:bodyPr wrap="square">
            <a:spAutoFit/>
          </a:bodyPr>
          <a:lstStyle/>
          <a:p>
            <a:pPr algn="l">
              <a:spcAft>
                <a:spcPts val="400"/>
              </a:spcAft>
            </a:pPr>
            <a:r>
              <a:rPr sz="1500" b="0">
                <a:solidFill>
                  <a:srgbClr val="222222"/>
                </a:solidFill>
                <a:latin typeface="Calibri"/>
              </a:rPr>
              <a:t>Patient confirms the booking. The driver receives an alert instantly.</a:t>
            </a:r>
          </a:p>
        </p:txBody>
      </p:sp>
      <p:sp>
        <p:nvSpPr>
          <p:cNvPr id="19" name="Rectangle 18"/>
          <p:cNvSpPr/>
          <p:nvPr/>
        </p:nvSpPr>
        <p:spPr>
          <a:xfrm>
            <a:off x="457200" y="5120640"/>
            <a:ext cx="1097280" cy="6858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120640"/>
            <a:ext cx="1097280" cy="685800"/>
          </a:xfrm>
          <a:prstGeom prst="rect">
            <a:avLst/>
          </a:prstGeom>
          <a:noFill/>
        </p:spPr>
        <p:txBody>
          <a:bodyPr wrap="square">
            <a:spAutoFit/>
          </a:bodyPr>
          <a:lstStyle/>
          <a:p>
            <a:pPr algn="ctr"/>
            <a:r>
              <a:rPr sz="1300" b="1">
                <a:solidFill>
                  <a:srgbClr val="FFFFFF"/>
                </a:solidFill>
                <a:latin typeface="Calibri"/>
              </a:rPr>
              <a:t>Step 5</a:t>
            </a:r>
          </a:p>
        </p:txBody>
      </p:sp>
      <p:sp>
        <p:nvSpPr>
          <p:cNvPr id="21" name="TextBox 20"/>
          <p:cNvSpPr txBox="1"/>
          <p:nvPr/>
        </p:nvSpPr>
        <p:spPr>
          <a:xfrm>
            <a:off x="1737360" y="5166360"/>
            <a:ext cx="9875520" cy="640080"/>
          </a:xfrm>
          <a:prstGeom prst="rect">
            <a:avLst/>
          </a:prstGeom>
          <a:noFill/>
        </p:spPr>
        <p:txBody>
          <a:bodyPr wrap="square">
            <a:spAutoFit/>
          </a:bodyPr>
          <a:lstStyle/>
          <a:p>
            <a:pPr algn="l">
              <a:spcAft>
                <a:spcPts val="400"/>
              </a:spcAft>
            </a:pPr>
            <a:r>
              <a:rPr sz="1500" b="0">
                <a:solidFill>
                  <a:srgbClr val="222222"/>
                </a:solidFill>
                <a:latin typeface="Calibri"/>
              </a:rPr>
              <a:t>Patient sees live status — driver notified, driver accepted, driver on the way.</a:t>
            </a:r>
          </a:p>
        </p:txBody>
      </p:sp>
      <p:sp>
        <p:nvSpPr>
          <p:cNvPr id="22" name="TextBox 21"/>
          <p:cNvSpPr txBox="1"/>
          <p:nvPr/>
        </p:nvSpPr>
        <p:spPr>
          <a:xfrm>
            <a:off x="11430000" y="6492240"/>
            <a:ext cx="640080" cy="274320"/>
          </a:xfrm>
          <a:prstGeom prst="rect">
            <a:avLst/>
          </a:prstGeom>
          <a:noFill/>
        </p:spPr>
        <p:txBody>
          <a:bodyPr wrap="square">
            <a:spAutoFit/>
          </a:bodyPr>
          <a:lstStyle/>
          <a:p>
            <a:pPr algn="r"/>
            <a:r>
              <a:rPr sz="1000" b="0">
                <a:solidFill>
                  <a:srgbClr val="999999"/>
                </a:solidFill>
                <a:latin typeface="Calibri"/>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
            <a:ext cx="10972800" cy="640080"/>
          </a:xfrm>
          <a:prstGeom prst="rect">
            <a:avLst/>
          </a:prstGeom>
          <a:noFill/>
        </p:spPr>
        <p:txBody>
          <a:bodyPr wrap="square">
            <a:spAutoFit/>
          </a:bodyPr>
          <a:lstStyle/>
          <a:p>
            <a:pPr algn="l"/>
            <a:r>
              <a:rPr sz="3200" b="1">
                <a:solidFill>
                  <a:srgbClr val="1A1A2E"/>
                </a:solidFill>
                <a:latin typeface="Calibri"/>
              </a:rPr>
              <a:t>Feature 2 — Green Corridor</a:t>
            </a:r>
          </a:p>
        </p:txBody>
      </p:sp>
      <p:sp>
        <p:nvSpPr>
          <p:cNvPr id="6" name="Rectangle 5"/>
          <p:cNvSpPr/>
          <p:nvPr/>
        </p:nvSpPr>
        <p:spPr>
          <a:xfrm>
            <a:off x="457200" y="868680"/>
            <a:ext cx="3200400" cy="36576"/>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05840"/>
            <a:ext cx="10972800" cy="411480"/>
          </a:xfrm>
          <a:prstGeom prst="rect">
            <a:avLst/>
          </a:prstGeom>
          <a:noFill/>
        </p:spPr>
        <p:txBody>
          <a:bodyPr wrap="square">
            <a:spAutoFit/>
          </a:bodyPr>
          <a:lstStyle/>
          <a:p>
            <a:pPr algn="l"/>
            <a:r>
              <a:rPr sz="1700" b="1">
                <a:solidFill>
                  <a:srgbClr val="CC0000"/>
                </a:solidFill>
                <a:latin typeface="Calibri"/>
              </a:rPr>
              <a:t>Solves Problem 1 — Ambulance stuck in traffic</a:t>
            </a:r>
          </a:p>
        </p:txBody>
      </p:sp>
      <p:sp>
        <p:nvSpPr>
          <p:cNvPr id="8" name="TextBox 7"/>
          <p:cNvSpPr txBox="1"/>
          <p:nvPr/>
        </p:nvSpPr>
        <p:spPr>
          <a:xfrm>
            <a:off x="457200" y="1508760"/>
            <a:ext cx="11247120" cy="1005840"/>
          </a:xfrm>
          <a:prstGeom prst="rect">
            <a:avLst/>
          </a:prstGeom>
          <a:noFill/>
        </p:spPr>
        <p:txBody>
          <a:bodyPr wrap="square">
            <a:spAutoFit/>
          </a:bodyPr>
          <a:lstStyle/>
          <a:p>
            <a:pPr algn="l"/>
            <a:r>
              <a:rPr sz="1600" b="0">
                <a:solidFill>
                  <a:srgbClr val="222222"/>
                </a:solidFill>
                <a:latin typeface="Calibri"/>
              </a:rPr>
              <a:t>When the driver activates Green Corridor, the system places traffic signals along the entire route to the hospital. As the ambulance moves forward, signals automatically turn green ahead of it and reset to red behind it. The ambulance gets a clear road all the way.</a:t>
            </a:r>
          </a:p>
        </p:txBody>
      </p:sp>
      <p:sp>
        <p:nvSpPr>
          <p:cNvPr id="9" name="TextBox 8"/>
          <p:cNvSpPr txBox="1"/>
          <p:nvPr/>
        </p:nvSpPr>
        <p:spPr>
          <a:xfrm>
            <a:off x="457200" y="2606040"/>
            <a:ext cx="10972800" cy="411480"/>
          </a:xfrm>
          <a:prstGeom prst="rect">
            <a:avLst/>
          </a:prstGeom>
          <a:noFill/>
        </p:spPr>
        <p:txBody>
          <a:bodyPr wrap="square">
            <a:spAutoFit/>
          </a:bodyPr>
          <a:lstStyle/>
          <a:p>
            <a:pPr algn="l"/>
            <a:r>
              <a:rPr sz="1600" b="1">
                <a:solidFill>
                  <a:srgbClr val="1A1A2E"/>
                </a:solidFill>
                <a:latin typeface="Calibri"/>
              </a:rPr>
              <a:t>How it works:</a:t>
            </a:r>
          </a:p>
        </p:txBody>
      </p:sp>
      <p:sp>
        <p:nvSpPr>
          <p:cNvPr id="10" name="Rectangle 9"/>
          <p:cNvSpPr/>
          <p:nvPr/>
        </p:nvSpPr>
        <p:spPr>
          <a:xfrm>
            <a:off x="457200" y="3127248"/>
            <a:ext cx="201168" cy="201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017520"/>
            <a:ext cx="10881360" cy="502920"/>
          </a:xfrm>
          <a:prstGeom prst="rect">
            <a:avLst/>
          </a:prstGeom>
          <a:noFill/>
        </p:spPr>
        <p:txBody>
          <a:bodyPr wrap="square">
            <a:spAutoFit/>
          </a:bodyPr>
          <a:lstStyle/>
          <a:p>
            <a:pPr algn="l"/>
            <a:r>
              <a:rPr sz="1400" b="0">
                <a:solidFill>
                  <a:srgbClr val="222222"/>
                </a:solidFill>
                <a:latin typeface="Calibri"/>
              </a:rPr>
              <a:t>The route from the ambulance to the hospital is calculated using real road data.</a:t>
            </a:r>
          </a:p>
        </p:txBody>
      </p:sp>
      <p:sp>
        <p:nvSpPr>
          <p:cNvPr id="12" name="Rectangle 11"/>
          <p:cNvSpPr/>
          <p:nvPr/>
        </p:nvSpPr>
        <p:spPr>
          <a:xfrm>
            <a:off x="457200" y="3675887"/>
            <a:ext cx="201168" cy="201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566160"/>
            <a:ext cx="10881360" cy="502920"/>
          </a:xfrm>
          <a:prstGeom prst="rect">
            <a:avLst/>
          </a:prstGeom>
          <a:noFill/>
        </p:spPr>
        <p:txBody>
          <a:bodyPr wrap="square">
            <a:spAutoFit/>
          </a:bodyPr>
          <a:lstStyle/>
          <a:p>
            <a:pPr algn="l"/>
            <a:r>
              <a:rPr sz="1400" b="0">
                <a:solidFill>
                  <a:srgbClr val="222222"/>
                </a:solidFill>
                <a:latin typeface="Calibri"/>
              </a:rPr>
              <a:t>7 virtual traffic signals are placed along this route.</a:t>
            </a:r>
          </a:p>
        </p:txBody>
      </p:sp>
      <p:sp>
        <p:nvSpPr>
          <p:cNvPr id="14" name="Rectangle 13"/>
          <p:cNvSpPr/>
          <p:nvPr/>
        </p:nvSpPr>
        <p:spPr>
          <a:xfrm>
            <a:off x="457200" y="4224528"/>
            <a:ext cx="201168" cy="201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114800"/>
            <a:ext cx="10881360" cy="502920"/>
          </a:xfrm>
          <a:prstGeom prst="rect">
            <a:avLst/>
          </a:prstGeom>
          <a:noFill/>
        </p:spPr>
        <p:txBody>
          <a:bodyPr wrap="square">
            <a:spAutoFit/>
          </a:bodyPr>
          <a:lstStyle/>
          <a:p>
            <a:pPr algn="l"/>
            <a:r>
              <a:rPr sz="1400" b="0">
                <a:solidFill>
                  <a:srgbClr val="222222"/>
                </a:solidFill>
                <a:latin typeface="Calibri"/>
              </a:rPr>
              <a:t>When the ambulance is 800 metres away from a signal — it turns yellow.</a:t>
            </a:r>
          </a:p>
        </p:txBody>
      </p:sp>
      <p:sp>
        <p:nvSpPr>
          <p:cNvPr id="16" name="Rectangle 15"/>
          <p:cNvSpPr/>
          <p:nvPr/>
        </p:nvSpPr>
        <p:spPr>
          <a:xfrm>
            <a:off x="457200" y="4773168"/>
            <a:ext cx="201168" cy="201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663440"/>
            <a:ext cx="10881360" cy="502920"/>
          </a:xfrm>
          <a:prstGeom prst="rect">
            <a:avLst/>
          </a:prstGeom>
          <a:noFill/>
        </p:spPr>
        <p:txBody>
          <a:bodyPr wrap="square">
            <a:spAutoFit/>
          </a:bodyPr>
          <a:lstStyle/>
          <a:p>
            <a:pPr algn="l"/>
            <a:r>
              <a:rPr sz="1400" b="0">
                <a:solidFill>
                  <a:srgbClr val="222222"/>
                </a:solidFill>
                <a:latin typeface="Calibri"/>
              </a:rPr>
              <a:t>When the ambulance is 400 metres away — it turns green.</a:t>
            </a:r>
          </a:p>
        </p:txBody>
      </p:sp>
      <p:sp>
        <p:nvSpPr>
          <p:cNvPr id="18" name="Rectangle 17"/>
          <p:cNvSpPr/>
          <p:nvPr/>
        </p:nvSpPr>
        <p:spPr>
          <a:xfrm>
            <a:off x="457200" y="5321807"/>
            <a:ext cx="201168" cy="201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212079"/>
            <a:ext cx="10881360" cy="502920"/>
          </a:xfrm>
          <a:prstGeom prst="rect">
            <a:avLst/>
          </a:prstGeom>
          <a:noFill/>
        </p:spPr>
        <p:txBody>
          <a:bodyPr wrap="square">
            <a:spAutoFit/>
          </a:bodyPr>
          <a:lstStyle/>
          <a:p>
            <a:pPr algn="l"/>
            <a:r>
              <a:rPr sz="1400" b="0">
                <a:solidFill>
                  <a:srgbClr val="222222"/>
                </a:solidFill>
                <a:latin typeface="Calibri"/>
              </a:rPr>
              <a:t>Once the ambulance passes — the signal resets to red.</a:t>
            </a:r>
          </a:p>
        </p:txBody>
      </p:sp>
      <p:sp>
        <p:nvSpPr>
          <p:cNvPr id="20" name="Rectangle 19"/>
          <p:cNvSpPr/>
          <p:nvPr/>
        </p:nvSpPr>
        <p:spPr>
          <a:xfrm>
            <a:off x="457200" y="5870448"/>
            <a:ext cx="201168" cy="2011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760720"/>
            <a:ext cx="10881360" cy="502920"/>
          </a:xfrm>
          <a:prstGeom prst="rect">
            <a:avLst/>
          </a:prstGeom>
          <a:noFill/>
        </p:spPr>
        <p:txBody>
          <a:bodyPr wrap="square">
            <a:spAutoFit/>
          </a:bodyPr>
          <a:lstStyle/>
          <a:p>
            <a:pPr algn="l"/>
            <a:r>
              <a:rPr sz="1400" b="0">
                <a:solidFill>
                  <a:srgbClr val="222222"/>
                </a:solidFill>
                <a:latin typeface="Calibri"/>
              </a:rPr>
              <a:t>All of this happens automatically with no manual control needed.</a:t>
            </a:r>
          </a:p>
        </p:txBody>
      </p:sp>
      <p:sp>
        <p:nvSpPr>
          <p:cNvPr id="22" name="TextBox 21"/>
          <p:cNvSpPr txBox="1"/>
          <p:nvPr/>
        </p:nvSpPr>
        <p:spPr>
          <a:xfrm>
            <a:off x="11430000" y="6492240"/>
            <a:ext cx="640080" cy="274320"/>
          </a:xfrm>
          <a:prstGeom prst="rect">
            <a:avLst/>
          </a:prstGeom>
          <a:noFill/>
        </p:spPr>
        <p:txBody>
          <a:bodyPr wrap="square">
            <a:spAutoFit/>
          </a:bodyPr>
          <a:lstStyle/>
          <a:p>
            <a:pPr algn="r"/>
            <a:r>
              <a:rPr sz="1000" b="0">
                <a:solidFill>
                  <a:srgbClr val="999999"/>
                </a:solidFill>
                <a:latin typeface="Calibri"/>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
            <a:ext cx="10972800" cy="640080"/>
          </a:xfrm>
          <a:prstGeom prst="rect">
            <a:avLst/>
          </a:prstGeom>
          <a:noFill/>
        </p:spPr>
        <p:txBody>
          <a:bodyPr wrap="square">
            <a:spAutoFit/>
          </a:bodyPr>
          <a:lstStyle/>
          <a:p>
            <a:pPr algn="l"/>
            <a:r>
              <a:rPr sz="3000" b="1">
                <a:solidFill>
                  <a:srgbClr val="1A1A2E"/>
                </a:solidFill>
                <a:latin typeface="Calibri"/>
              </a:rPr>
              <a:t>Feature 3 — Live Telemetry to Hospital ER</a:t>
            </a:r>
          </a:p>
        </p:txBody>
      </p:sp>
      <p:sp>
        <p:nvSpPr>
          <p:cNvPr id="6" name="Rectangle 5"/>
          <p:cNvSpPr/>
          <p:nvPr/>
        </p:nvSpPr>
        <p:spPr>
          <a:xfrm>
            <a:off x="457200" y="868680"/>
            <a:ext cx="4114800" cy="36576"/>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05840"/>
            <a:ext cx="10972800" cy="411480"/>
          </a:xfrm>
          <a:prstGeom prst="rect">
            <a:avLst/>
          </a:prstGeom>
          <a:noFill/>
        </p:spPr>
        <p:txBody>
          <a:bodyPr wrap="square">
            <a:spAutoFit/>
          </a:bodyPr>
          <a:lstStyle/>
          <a:p>
            <a:pPr algn="l"/>
            <a:r>
              <a:rPr sz="1700" b="1">
                <a:solidFill>
                  <a:srgbClr val="CC0000"/>
                </a:solidFill>
                <a:latin typeface="Calibri"/>
              </a:rPr>
              <a:t>Solves Problem 2 — Hospital unprepared for incoming patient</a:t>
            </a:r>
          </a:p>
        </p:txBody>
      </p:sp>
      <p:sp>
        <p:nvSpPr>
          <p:cNvPr id="8" name="TextBox 7"/>
          <p:cNvSpPr txBox="1"/>
          <p:nvPr/>
        </p:nvSpPr>
        <p:spPr>
          <a:xfrm>
            <a:off x="457200" y="1508760"/>
            <a:ext cx="11247120" cy="822960"/>
          </a:xfrm>
          <a:prstGeom prst="rect">
            <a:avLst/>
          </a:prstGeom>
          <a:noFill/>
        </p:spPr>
        <p:txBody>
          <a:bodyPr wrap="square">
            <a:spAutoFit/>
          </a:bodyPr>
          <a:lstStyle/>
          <a:p>
            <a:pPr algn="l"/>
            <a:r>
              <a:rPr sz="1600" b="0">
                <a:solidFill>
                  <a:srgbClr val="222222"/>
                </a:solidFill>
                <a:latin typeface="Calibri"/>
              </a:rPr>
              <a:t>While the ambulance is on the way, the driver enters the patient's medical vitals. This data is sent live to the hospital ER. The ER team sees everything in real time — no waiting until arrival.</a:t>
            </a:r>
          </a:p>
        </p:txBody>
      </p:sp>
      <p:sp>
        <p:nvSpPr>
          <p:cNvPr id="9" name="Rectangle 8"/>
          <p:cNvSpPr/>
          <p:nvPr/>
        </p:nvSpPr>
        <p:spPr>
          <a:xfrm>
            <a:off x="457200" y="2468880"/>
            <a:ext cx="5303520" cy="3291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578608"/>
            <a:ext cx="5029200" cy="457200"/>
          </a:xfrm>
          <a:prstGeom prst="rect">
            <a:avLst/>
          </a:prstGeom>
          <a:noFill/>
        </p:spPr>
        <p:txBody>
          <a:bodyPr wrap="square">
            <a:spAutoFit/>
          </a:bodyPr>
          <a:lstStyle/>
          <a:p>
            <a:pPr algn="l"/>
            <a:r>
              <a:rPr sz="1500" b="1">
                <a:solidFill>
                  <a:srgbClr val="1A1A2E"/>
                </a:solidFill>
                <a:latin typeface="Calibri"/>
              </a:rPr>
              <a:t>Driver Sends (from ambulance)</a:t>
            </a:r>
          </a:p>
        </p:txBody>
      </p:sp>
      <p:sp>
        <p:nvSpPr>
          <p:cNvPr id="11" name="TextBox 10"/>
          <p:cNvSpPr txBox="1"/>
          <p:nvPr/>
        </p:nvSpPr>
        <p:spPr>
          <a:xfrm>
            <a:off x="685800" y="3017520"/>
            <a:ext cx="4846320" cy="365760"/>
          </a:xfrm>
          <a:prstGeom prst="rect">
            <a:avLst/>
          </a:prstGeom>
          <a:noFill/>
        </p:spPr>
        <p:txBody>
          <a:bodyPr wrap="square">
            <a:spAutoFit/>
          </a:bodyPr>
          <a:lstStyle/>
          <a:p>
            <a:pPr algn="l"/>
            <a:r>
              <a:rPr sz="1300" b="0">
                <a:solidFill>
                  <a:srgbClr val="222222"/>
                </a:solidFill>
                <a:latin typeface="Calibri"/>
              </a:rPr>
              <a:t>- Heart Rate</a:t>
            </a:r>
          </a:p>
        </p:txBody>
      </p:sp>
      <p:sp>
        <p:nvSpPr>
          <p:cNvPr id="12" name="TextBox 11"/>
          <p:cNvSpPr txBox="1"/>
          <p:nvPr/>
        </p:nvSpPr>
        <p:spPr>
          <a:xfrm>
            <a:off x="685800" y="3401568"/>
            <a:ext cx="4846320" cy="365760"/>
          </a:xfrm>
          <a:prstGeom prst="rect">
            <a:avLst/>
          </a:prstGeom>
          <a:noFill/>
        </p:spPr>
        <p:txBody>
          <a:bodyPr wrap="square">
            <a:spAutoFit/>
          </a:bodyPr>
          <a:lstStyle/>
          <a:p>
            <a:pPr algn="l"/>
            <a:r>
              <a:rPr sz="1300" b="0">
                <a:solidFill>
                  <a:srgbClr val="222222"/>
                </a:solidFill>
                <a:latin typeface="Calibri"/>
              </a:rPr>
              <a:t>- Blood Oxygen Level (SpO2)</a:t>
            </a:r>
          </a:p>
        </p:txBody>
      </p:sp>
      <p:sp>
        <p:nvSpPr>
          <p:cNvPr id="13" name="TextBox 12"/>
          <p:cNvSpPr txBox="1"/>
          <p:nvPr/>
        </p:nvSpPr>
        <p:spPr>
          <a:xfrm>
            <a:off x="685800" y="3785615"/>
            <a:ext cx="4846320" cy="365760"/>
          </a:xfrm>
          <a:prstGeom prst="rect">
            <a:avLst/>
          </a:prstGeom>
          <a:noFill/>
        </p:spPr>
        <p:txBody>
          <a:bodyPr wrap="square">
            <a:spAutoFit/>
          </a:bodyPr>
          <a:lstStyle/>
          <a:p>
            <a:pPr algn="l"/>
            <a:r>
              <a:rPr sz="1300" b="0">
                <a:solidFill>
                  <a:srgbClr val="222222"/>
                </a:solidFill>
                <a:latin typeface="Calibri"/>
              </a:rPr>
              <a:t>- Blood Pressure</a:t>
            </a:r>
          </a:p>
        </p:txBody>
      </p:sp>
      <p:sp>
        <p:nvSpPr>
          <p:cNvPr id="14" name="TextBox 13"/>
          <p:cNvSpPr txBox="1"/>
          <p:nvPr/>
        </p:nvSpPr>
        <p:spPr>
          <a:xfrm>
            <a:off x="685800" y="4169663"/>
            <a:ext cx="4846320" cy="365760"/>
          </a:xfrm>
          <a:prstGeom prst="rect">
            <a:avLst/>
          </a:prstGeom>
          <a:noFill/>
        </p:spPr>
        <p:txBody>
          <a:bodyPr wrap="square">
            <a:spAutoFit/>
          </a:bodyPr>
          <a:lstStyle/>
          <a:p>
            <a:pPr algn="l"/>
            <a:r>
              <a:rPr sz="1300" b="0">
                <a:solidFill>
                  <a:srgbClr val="222222"/>
                </a:solidFill>
                <a:latin typeface="Calibri"/>
              </a:rPr>
              <a:t>- Body Temperature</a:t>
            </a:r>
          </a:p>
        </p:txBody>
      </p:sp>
      <p:sp>
        <p:nvSpPr>
          <p:cNvPr id="15" name="TextBox 14"/>
          <p:cNvSpPr txBox="1"/>
          <p:nvPr/>
        </p:nvSpPr>
        <p:spPr>
          <a:xfrm>
            <a:off x="685800" y="4553712"/>
            <a:ext cx="4846320" cy="365760"/>
          </a:xfrm>
          <a:prstGeom prst="rect">
            <a:avLst/>
          </a:prstGeom>
          <a:noFill/>
        </p:spPr>
        <p:txBody>
          <a:bodyPr wrap="square">
            <a:spAutoFit/>
          </a:bodyPr>
          <a:lstStyle/>
          <a:p>
            <a:pPr algn="l"/>
            <a:r>
              <a:rPr sz="1300" b="0">
                <a:solidFill>
                  <a:srgbClr val="222222"/>
                </a:solidFill>
                <a:latin typeface="Calibri"/>
              </a:rPr>
              <a:t>- Patient Condition — Critical / Serious / Stable / Normal</a:t>
            </a:r>
          </a:p>
        </p:txBody>
      </p:sp>
      <p:sp>
        <p:nvSpPr>
          <p:cNvPr id="16" name="TextBox 15"/>
          <p:cNvSpPr txBox="1"/>
          <p:nvPr/>
        </p:nvSpPr>
        <p:spPr>
          <a:xfrm>
            <a:off x="685800" y="4937760"/>
            <a:ext cx="4846320" cy="365760"/>
          </a:xfrm>
          <a:prstGeom prst="rect">
            <a:avLst/>
          </a:prstGeom>
          <a:noFill/>
        </p:spPr>
        <p:txBody>
          <a:bodyPr wrap="square">
            <a:spAutoFit/>
          </a:bodyPr>
          <a:lstStyle/>
          <a:p>
            <a:pPr algn="l"/>
            <a:r>
              <a:rPr sz="1300" b="0">
                <a:solidFill>
                  <a:srgbClr val="222222"/>
                </a:solidFill>
                <a:latin typeface="Calibri"/>
              </a:rPr>
              <a:t>- Live ECG waveform streamed continuously</a:t>
            </a:r>
          </a:p>
        </p:txBody>
      </p:sp>
      <p:sp>
        <p:nvSpPr>
          <p:cNvPr id="17" name="TextBox 16"/>
          <p:cNvSpPr txBox="1"/>
          <p:nvPr/>
        </p:nvSpPr>
        <p:spPr>
          <a:xfrm>
            <a:off x="685800" y="5321808"/>
            <a:ext cx="4846320" cy="365760"/>
          </a:xfrm>
          <a:prstGeom prst="rect">
            <a:avLst/>
          </a:prstGeom>
          <a:noFill/>
        </p:spPr>
        <p:txBody>
          <a:bodyPr wrap="square">
            <a:spAutoFit/>
          </a:bodyPr>
          <a:lstStyle/>
          <a:p>
            <a:pPr algn="l"/>
            <a:r>
              <a:rPr sz="1300" b="0">
                <a:solidFill>
                  <a:srgbClr val="222222"/>
                </a:solidFill>
                <a:latin typeface="Calibri"/>
              </a:rPr>
              <a:t>- Pre-arrival alert with patient summary before reaching hospital</a:t>
            </a:r>
          </a:p>
        </p:txBody>
      </p:sp>
      <p:sp>
        <p:nvSpPr>
          <p:cNvPr id="18" name="Rectangle 17"/>
          <p:cNvSpPr/>
          <p:nvPr/>
        </p:nvSpPr>
        <p:spPr>
          <a:xfrm>
            <a:off x="6400800" y="2468880"/>
            <a:ext cx="5303520" cy="3291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37960" y="2578608"/>
            <a:ext cx="5029200" cy="457200"/>
          </a:xfrm>
          <a:prstGeom prst="rect">
            <a:avLst/>
          </a:prstGeom>
          <a:noFill/>
        </p:spPr>
        <p:txBody>
          <a:bodyPr wrap="square">
            <a:spAutoFit/>
          </a:bodyPr>
          <a:lstStyle/>
          <a:p>
            <a:pPr algn="l"/>
            <a:r>
              <a:rPr sz="1500" b="1">
                <a:solidFill>
                  <a:srgbClr val="1A1A2E"/>
                </a:solidFill>
                <a:latin typeface="Calibri"/>
              </a:rPr>
              <a:t>Hospital ER Receives (live)</a:t>
            </a:r>
          </a:p>
        </p:txBody>
      </p:sp>
      <p:sp>
        <p:nvSpPr>
          <p:cNvPr id="20" name="TextBox 19"/>
          <p:cNvSpPr txBox="1"/>
          <p:nvPr/>
        </p:nvSpPr>
        <p:spPr>
          <a:xfrm>
            <a:off x="6492240" y="3017520"/>
            <a:ext cx="5029200" cy="365760"/>
          </a:xfrm>
          <a:prstGeom prst="rect">
            <a:avLst/>
          </a:prstGeom>
          <a:noFill/>
        </p:spPr>
        <p:txBody>
          <a:bodyPr wrap="square">
            <a:spAutoFit/>
          </a:bodyPr>
          <a:lstStyle/>
          <a:p>
            <a:pPr algn="l"/>
            <a:r>
              <a:rPr sz="1300" b="0">
                <a:solidFill>
                  <a:srgbClr val="222222"/>
                </a:solidFill>
                <a:latin typeface="Calibri"/>
              </a:rPr>
              <a:t>- All vitals update in real time on screen</a:t>
            </a:r>
          </a:p>
        </p:txBody>
      </p:sp>
      <p:sp>
        <p:nvSpPr>
          <p:cNvPr id="21" name="TextBox 20"/>
          <p:cNvSpPr txBox="1"/>
          <p:nvPr/>
        </p:nvSpPr>
        <p:spPr>
          <a:xfrm>
            <a:off x="6492240" y="3401568"/>
            <a:ext cx="5029200" cy="365760"/>
          </a:xfrm>
          <a:prstGeom prst="rect">
            <a:avLst/>
          </a:prstGeom>
          <a:noFill/>
        </p:spPr>
        <p:txBody>
          <a:bodyPr wrap="square">
            <a:spAutoFit/>
          </a:bodyPr>
          <a:lstStyle/>
          <a:p>
            <a:pPr algn="l"/>
            <a:r>
              <a:rPr sz="1300" b="0">
                <a:solidFill>
                  <a:srgbClr val="222222"/>
                </a:solidFill>
                <a:latin typeface="Calibri"/>
              </a:rPr>
              <a:t>- ECG waveform displayed on a live monitor</a:t>
            </a:r>
          </a:p>
        </p:txBody>
      </p:sp>
      <p:sp>
        <p:nvSpPr>
          <p:cNvPr id="22" name="TextBox 21"/>
          <p:cNvSpPr txBox="1"/>
          <p:nvPr/>
        </p:nvSpPr>
        <p:spPr>
          <a:xfrm>
            <a:off x="6492240" y="3785615"/>
            <a:ext cx="5029200" cy="365760"/>
          </a:xfrm>
          <a:prstGeom prst="rect">
            <a:avLst/>
          </a:prstGeom>
          <a:noFill/>
        </p:spPr>
        <p:txBody>
          <a:bodyPr wrap="square">
            <a:spAutoFit/>
          </a:bodyPr>
          <a:lstStyle/>
          <a:p>
            <a:pPr algn="l"/>
            <a:r>
              <a:rPr sz="1300" b="0">
                <a:solidFill>
                  <a:srgbClr val="222222"/>
                </a:solidFill>
                <a:latin typeface="Calibri"/>
              </a:rPr>
              <a:t>- Critical alerts highlighted automatically</a:t>
            </a:r>
          </a:p>
        </p:txBody>
      </p:sp>
      <p:sp>
        <p:nvSpPr>
          <p:cNvPr id="23" name="TextBox 22"/>
          <p:cNvSpPr txBox="1"/>
          <p:nvPr/>
        </p:nvSpPr>
        <p:spPr>
          <a:xfrm>
            <a:off x="6492240" y="4169663"/>
            <a:ext cx="5029200" cy="365760"/>
          </a:xfrm>
          <a:prstGeom prst="rect">
            <a:avLst/>
          </a:prstGeom>
          <a:noFill/>
        </p:spPr>
        <p:txBody>
          <a:bodyPr wrap="square">
            <a:spAutoFit/>
          </a:bodyPr>
          <a:lstStyle/>
          <a:p>
            <a:pPr algn="l"/>
            <a:r>
              <a:rPr sz="1300" b="0">
                <a:solidFill>
                  <a:srgbClr val="222222"/>
                </a:solidFill>
                <a:latin typeface="Calibri"/>
              </a:rPr>
              <a:t>- Pre-alert notification before ambulance arrives</a:t>
            </a:r>
          </a:p>
        </p:txBody>
      </p:sp>
      <p:sp>
        <p:nvSpPr>
          <p:cNvPr id="24" name="TextBox 23"/>
          <p:cNvSpPr txBox="1"/>
          <p:nvPr/>
        </p:nvSpPr>
        <p:spPr>
          <a:xfrm>
            <a:off x="6492240" y="4553712"/>
            <a:ext cx="5029200" cy="365760"/>
          </a:xfrm>
          <a:prstGeom prst="rect">
            <a:avLst/>
          </a:prstGeom>
          <a:noFill/>
        </p:spPr>
        <p:txBody>
          <a:bodyPr wrap="square">
            <a:spAutoFit/>
          </a:bodyPr>
          <a:lstStyle/>
          <a:p>
            <a:pPr algn="l"/>
            <a:r>
              <a:rPr sz="1300" b="0">
                <a:solidFill>
                  <a:srgbClr val="222222"/>
                </a:solidFill>
                <a:latin typeface="Calibri"/>
              </a:rPr>
              <a:t>- ER team can prepare — Trauma Bay, Blood Bank, ICU</a:t>
            </a:r>
          </a:p>
        </p:txBody>
      </p:sp>
      <p:sp>
        <p:nvSpPr>
          <p:cNvPr id="25" name="TextBox 24"/>
          <p:cNvSpPr txBox="1"/>
          <p:nvPr/>
        </p:nvSpPr>
        <p:spPr>
          <a:xfrm>
            <a:off x="6492240" y="4937760"/>
            <a:ext cx="5029200" cy="365760"/>
          </a:xfrm>
          <a:prstGeom prst="rect">
            <a:avLst/>
          </a:prstGeom>
          <a:noFill/>
        </p:spPr>
        <p:txBody>
          <a:bodyPr wrap="square">
            <a:spAutoFit/>
          </a:bodyPr>
          <a:lstStyle/>
          <a:p>
            <a:pPr algn="l"/>
            <a:r>
              <a:rPr sz="1300" b="0">
                <a:solidFill>
                  <a:srgbClr val="222222"/>
                </a:solidFill>
                <a:latin typeface="Calibri"/>
              </a:rPr>
              <a:t>- No login needed — just enter the booking ID</a:t>
            </a:r>
          </a:p>
        </p:txBody>
      </p:sp>
      <p:sp>
        <p:nvSpPr>
          <p:cNvPr id="26" name="TextBox 25"/>
          <p:cNvSpPr txBox="1"/>
          <p:nvPr/>
        </p:nvSpPr>
        <p:spPr>
          <a:xfrm>
            <a:off x="11430000" y="6492240"/>
            <a:ext cx="640080" cy="274320"/>
          </a:xfrm>
          <a:prstGeom prst="rect">
            <a:avLst/>
          </a:prstGeom>
          <a:noFill/>
        </p:spPr>
        <p:txBody>
          <a:bodyPr wrap="square">
            <a:spAutoFit/>
          </a:bodyPr>
          <a:lstStyle/>
          <a:p>
            <a:pPr algn="r"/>
            <a:r>
              <a:rPr sz="1000" b="0">
                <a:solidFill>
                  <a:srgbClr val="999999"/>
                </a:solidFill>
                <a:latin typeface="Calibri"/>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
            <a:ext cx="10972800" cy="640080"/>
          </a:xfrm>
          <a:prstGeom prst="rect">
            <a:avLst/>
          </a:prstGeom>
          <a:noFill/>
        </p:spPr>
        <p:txBody>
          <a:bodyPr wrap="square">
            <a:spAutoFit/>
          </a:bodyPr>
          <a:lstStyle/>
          <a:p>
            <a:pPr algn="l"/>
            <a:r>
              <a:rPr sz="3000" b="1">
                <a:solidFill>
                  <a:srgbClr val="1A1A2E"/>
                </a:solidFill>
                <a:latin typeface="Calibri"/>
              </a:rPr>
              <a:t>What ResQ Can Do — Full Feature List</a:t>
            </a:r>
          </a:p>
        </p:txBody>
      </p:sp>
      <p:sp>
        <p:nvSpPr>
          <p:cNvPr id="6" name="Rectangle 5"/>
          <p:cNvSpPr/>
          <p:nvPr/>
        </p:nvSpPr>
        <p:spPr>
          <a:xfrm>
            <a:off x="457200" y="868680"/>
            <a:ext cx="4572000" cy="36576"/>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051560"/>
            <a:ext cx="5486400" cy="5486400"/>
          </a:xfrm>
          <a:prstGeom prst="rect">
            <a:avLst/>
          </a:prstGeom>
          <a:noFill/>
        </p:spPr>
        <p:txBody>
          <a:bodyPr wrap="square">
            <a:spAutoFit/>
          </a:bodyPr>
          <a:lstStyle/>
          <a:p>
            <a:pPr algn="l">
              <a:spcAft>
                <a:spcPts val="400"/>
              </a:spcAft>
            </a:pPr>
            <a:r>
              <a:rPr sz="1400" b="1">
                <a:solidFill>
                  <a:srgbClr val="222222"/>
                </a:solidFill>
                <a:latin typeface="Calibri"/>
              </a:rPr>
              <a:t>Patient Side</a:t>
            </a:r>
          </a:p>
          <a:p>
            <a:pPr algn="l">
              <a:spcAft>
                <a:spcPts val="400"/>
              </a:spcAft>
            </a:pPr>
            <a:r>
              <a:rPr sz="1400" b="0">
                <a:solidFill>
                  <a:srgbClr val="222222"/>
                </a:solidFill>
                <a:latin typeface="Calibri"/>
              </a:rPr>
              <a:t>Auto GPS location detection</a:t>
            </a:r>
          </a:p>
          <a:p>
            <a:pPr algn="l">
              <a:spcAft>
                <a:spcPts val="400"/>
              </a:spcAft>
            </a:pPr>
            <a:r>
              <a:rPr sz="1400" b="0">
                <a:solidFill>
                  <a:srgbClr val="222222"/>
                </a:solidFill>
                <a:latin typeface="Calibri"/>
              </a:rPr>
              <a:t>8 emergency types to choose from</a:t>
            </a:r>
          </a:p>
          <a:p>
            <a:pPr algn="l">
              <a:spcAft>
                <a:spcPts val="400"/>
              </a:spcAft>
            </a:pPr>
            <a:r>
              <a:rPr sz="1400" b="0">
                <a:solidFill>
                  <a:srgbClr val="222222"/>
                </a:solidFill>
                <a:latin typeface="Calibri"/>
              </a:rPr>
              <a:t>See nearby ambulances with ETA</a:t>
            </a:r>
          </a:p>
          <a:p>
            <a:pPr algn="l">
              <a:spcAft>
                <a:spcPts val="400"/>
              </a:spcAft>
            </a:pPr>
            <a:r>
              <a:rPr sz="1400" b="0">
                <a:solidFill>
                  <a:srgbClr val="222222"/>
                </a:solidFill>
                <a:latin typeface="Calibri"/>
              </a:rPr>
              <a:t>Live booking status updates</a:t>
            </a:r>
          </a:p>
          <a:p>
            <a:pPr algn="l">
              <a:spcAft>
                <a:spcPts val="400"/>
              </a:spcAft>
            </a:pPr>
            <a:r>
              <a:rPr sz="1400" b="0">
                <a:solidFill>
                  <a:srgbClr val="222222"/>
                </a:solidFill>
                <a:latin typeface="Calibri"/>
              </a:rPr>
              <a:t>Full booking history</a:t>
            </a:r>
          </a:p>
          <a:p>
            <a:pPr algn="l">
              <a:spcAft>
                <a:spcPts val="400"/>
              </a:spcAft>
            </a:pPr>
            <a:r>
              <a:rPr sz="1400" b="0">
                <a:solidFill>
                  <a:srgbClr val="222222"/>
                </a:solidFill>
                <a:latin typeface="Calibri"/>
              </a:rPr>
              <a:t/>
            </a:r>
          </a:p>
          <a:p>
            <a:pPr algn="l">
              <a:spcAft>
                <a:spcPts val="400"/>
              </a:spcAft>
            </a:pPr>
            <a:r>
              <a:rPr sz="1400" b="1">
                <a:solidFill>
                  <a:srgbClr val="222222"/>
                </a:solidFill>
                <a:latin typeface="Calibri"/>
              </a:rPr>
              <a:t>Admin Side</a:t>
            </a:r>
          </a:p>
          <a:p>
            <a:pPr algn="l">
              <a:spcAft>
                <a:spcPts val="400"/>
              </a:spcAft>
            </a:pPr>
            <a:r>
              <a:rPr sz="1400" b="0">
                <a:solidFill>
                  <a:srgbClr val="222222"/>
                </a:solidFill>
                <a:latin typeface="Calibri"/>
              </a:rPr>
              <a:t>Live view of all active emergencies</a:t>
            </a:r>
          </a:p>
          <a:p>
            <a:pPr algn="l">
              <a:spcAft>
                <a:spcPts val="400"/>
              </a:spcAft>
            </a:pPr>
            <a:r>
              <a:rPr sz="1400" b="0">
                <a:solidFill>
                  <a:srgbClr val="222222"/>
                </a:solidFill>
                <a:latin typeface="Calibri"/>
              </a:rPr>
              <a:t>Manage entire ambulance fleet</a:t>
            </a:r>
          </a:p>
          <a:p>
            <a:pPr algn="l">
              <a:spcAft>
                <a:spcPts val="400"/>
              </a:spcAft>
            </a:pPr>
            <a:r>
              <a:rPr sz="1400" b="0">
                <a:solidFill>
                  <a:srgbClr val="222222"/>
                </a:solidFill>
                <a:latin typeface="Calibri"/>
              </a:rPr>
              <a:t>Add and remove drivers</a:t>
            </a:r>
          </a:p>
          <a:p>
            <a:pPr algn="l">
              <a:spcAft>
                <a:spcPts val="400"/>
              </a:spcAft>
            </a:pPr>
            <a:r>
              <a:rPr sz="1400" b="0">
                <a:solidFill>
                  <a:srgbClr val="222222"/>
                </a:solidFill>
                <a:latin typeface="Calibri"/>
              </a:rPr>
              <a:t>Analytics and activity logs</a:t>
            </a:r>
          </a:p>
        </p:txBody>
      </p:sp>
      <p:sp>
        <p:nvSpPr>
          <p:cNvPr id="8" name="TextBox 7"/>
          <p:cNvSpPr txBox="1"/>
          <p:nvPr/>
        </p:nvSpPr>
        <p:spPr>
          <a:xfrm>
            <a:off x="6309360" y="1051560"/>
            <a:ext cx="5486400" cy="5486400"/>
          </a:xfrm>
          <a:prstGeom prst="rect">
            <a:avLst/>
          </a:prstGeom>
          <a:noFill/>
        </p:spPr>
        <p:txBody>
          <a:bodyPr wrap="square">
            <a:spAutoFit/>
          </a:bodyPr>
          <a:lstStyle/>
          <a:p>
            <a:pPr algn="l">
              <a:spcAft>
                <a:spcPts val="400"/>
              </a:spcAft>
            </a:pPr>
            <a:r>
              <a:rPr sz="1400" b="1">
                <a:solidFill>
                  <a:srgbClr val="222222"/>
                </a:solidFill>
                <a:latin typeface="Calibri"/>
              </a:rPr>
              <a:t>Driver Side</a:t>
            </a:r>
          </a:p>
          <a:p>
            <a:pPr algn="l">
              <a:spcAft>
                <a:spcPts val="400"/>
              </a:spcAft>
            </a:pPr>
            <a:r>
              <a:rPr sz="1400" b="0">
                <a:solidFill>
                  <a:srgbClr val="222222"/>
                </a:solidFill>
                <a:latin typeface="Calibri"/>
              </a:rPr>
              <a:t>Receive emergency requests live</a:t>
            </a:r>
          </a:p>
          <a:p>
            <a:pPr algn="l">
              <a:spcAft>
                <a:spcPts val="400"/>
              </a:spcAft>
            </a:pPr>
            <a:r>
              <a:rPr sz="1400" b="0">
                <a:solidFill>
                  <a:srgbClr val="222222"/>
                </a:solidFill>
                <a:latin typeface="Calibri"/>
              </a:rPr>
              <a:t>Accept or reject bookings</a:t>
            </a:r>
          </a:p>
          <a:p>
            <a:pPr algn="l">
              <a:spcAft>
                <a:spcPts val="400"/>
              </a:spcAft>
            </a:pPr>
            <a:r>
              <a:rPr sz="1400" b="0">
                <a:solidFill>
                  <a:srgbClr val="222222"/>
                </a:solidFill>
                <a:latin typeface="Calibri"/>
              </a:rPr>
              <a:t>GPS navigation to patient</a:t>
            </a:r>
          </a:p>
          <a:p>
            <a:pPr algn="l">
              <a:spcAft>
                <a:spcPts val="400"/>
              </a:spcAft>
            </a:pPr>
            <a:r>
              <a:rPr sz="1400" b="0">
                <a:solidFill>
                  <a:srgbClr val="222222"/>
                </a:solidFill>
                <a:latin typeface="Calibri"/>
              </a:rPr>
              <a:t>Green Corridor — auto traffic clearance</a:t>
            </a:r>
          </a:p>
          <a:p>
            <a:pPr algn="l">
              <a:spcAft>
                <a:spcPts val="400"/>
              </a:spcAft>
            </a:pPr>
            <a:r>
              <a:rPr sz="1400" b="0">
                <a:solidFill>
                  <a:srgbClr val="222222"/>
                </a:solidFill>
                <a:latin typeface="Calibri"/>
              </a:rPr>
              <a:t>Enter and send patient vitals to ER</a:t>
            </a:r>
          </a:p>
          <a:p>
            <a:pPr algn="l">
              <a:spcAft>
                <a:spcPts val="400"/>
              </a:spcAft>
            </a:pPr>
            <a:r>
              <a:rPr sz="1400" b="0">
                <a:solidFill>
                  <a:srgbClr val="222222"/>
                </a:solidFill>
                <a:latin typeface="Calibri"/>
              </a:rPr>
              <a:t>Stream live ECG to hospital</a:t>
            </a:r>
          </a:p>
          <a:p>
            <a:pPr algn="l">
              <a:spcAft>
                <a:spcPts val="400"/>
              </a:spcAft>
            </a:pPr>
            <a:r>
              <a:rPr sz="1400" b="0">
                <a:solidFill>
                  <a:srgbClr val="222222"/>
                </a:solidFill>
                <a:latin typeface="Calibri"/>
              </a:rPr>
              <a:t>Send pre-arrival alert to hospital</a:t>
            </a:r>
          </a:p>
          <a:p>
            <a:pPr algn="l">
              <a:spcAft>
                <a:spcPts val="400"/>
              </a:spcAft>
            </a:pPr>
            <a:r>
              <a:rPr sz="1400" b="0">
                <a:solidFill>
                  <a:srgbClr val="222222"/>
                </a:solidFill>
                <a:latin typeface="Calibri"/>
              </a:rPr>
              <a:t>Download patient vitals as PDF report</a:t>
            </a:r>
          </a:p>
          <a:p>
            <a:pPr algn="l">
              <a:spcAft>
                <a:spcPts val="400"/>
              </a:spcAft>
            </a:pPr>
            <a:r>
              <a:rPr sz="1400" b="0">
                <a:solidFill>
                  <a:srgbClr val="222222"/>
                </a:solidFill>
                <a:latin typeface="Calibri"/>
              </a:rPr>
              <a:t/>
            </a:r>
          </a:p>
          <a:p>
            <a:pPr algn="l">
              <a:spcAft>
                <a:spcPts val="400"/>
              </a:spcAft>
            </a:pPr>
            <a:r>
              <a:rPr sz="1400" b="1">
                <a:solidFill>
                  <a:srgbClr val="222222"/>
                </a:solidFill>
                <a:latin typeface="Calibri"/>
              </a:rPr>
              <a:t>Hospital Side</a:t>
            </a:r>
          </a:p>
          <a:p>
            <a:pPr algn="l">
              <a:spcAft>
                <a:spcPts val="400"/>
              </a:spcAft>
            </a:pPr>
            <a:r>
              <a:rPr sz="1400" b="0">
                <a:solidFill>
                  <a:srgbClr val="222222"/>
                </a:solidFill>
                <a:latin typeface="Calibri"/>
              </a:rPr>
              <a:t>Live vitals and ECG monitor</a:t>
            </a:r>
          </a:p>
          <a:p>
            <a:pPr algn="l">
              <a:spcAft>
                <a:spcPts val="400"/>
              </a:spcAft>
            </a:pPr>
            <a:r>
              <a:rPr sz="1400" b="0">
                <a:solidFill>
                  <a:srgbClr val="222222"/>
                </a:solidFill>
                <a:latin typeface="Calibri"/>
              </a:rPr>
              <a:t>Pre-alert inbox before patient arrives</a:t>
            </a:r>
          </a:p>
          <a:p>
            <a:pPr algn="l">
              <a:spcAft>
                <a:spcPts val="400"/>
              </a:spcAft>
            </a:pPr>
            <a:r>
              <a:rPr sz="1400" b="0">
                <a:solidFill>
                  <a:srgbClr val="222222"/>
                </a:solidFill>
                <a:latin typeface="Calibri"/>
              </a:rPr>
              <a:t>One-click ER preparation actions</a:t>
            </a:r>
          </a:p>
        </p:txBody>
      </p:sp>
      <p:sp>
        <p:nvSpPr>
          <p:cNvPr id="9" name="TextBox 8"/>
          <p:cNvSpPr txBox="1"/>
          <p:nvPr/>
        </p:nvSpPr>
        <p:spPr>
          <a:xfrm>
            <a:off x="11430000" y="6492240"/>
            <a:ext cx="640080" cy="274320"/>
          </a:xfrm>
          <a:prstGeom prst="rect">
            <a:avLst/>
          </a:prstGeom>
          <a:noFill/>
        </p:spPr>
        <p:txBody>
          <a:bodyPr wrap="square">
            <a:spAutoFit/>
          </a:bodyPr>
          <a:lstStyle/>
          <a:p>
            <a:pPr algn="r"/>
            <a:r>
              <a:rPr sz="1000" b="0">
                <a:solidFill>
                  <a:srgbClr val="999999"/>
                </a:solidFill>
                <a:latin typeface="Calibri"/>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84848"/>
            <a:ext cx="12188952" cy="7315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8600"/>
            <a:ext cx="10972800" cy="640080"/>
          </a:xfrm>
          <a:prstGeom prst="rect">
            <a:avLst/>
          </a:prstGeom>
          <a:noFill/>
        </p:spPr>
        <p:txBody>
          <a:bodyPr wrap="square">
            <a:spAutoFit/>
          </a:bodyPr>
          <a:lstStyle/>
          <a:p>
            <a:pPr algn="l"/>
            <a:r>
              <a:rPr sz="3200" b="1">
                <a:solidFill>
                  <a:srgbClr val="1A1A2E"/>
                </a:solidFill>
                <a:latin typeface="Calibri"/>
              </a:rPr>
              <a:t>Problem vs Solution</a:t>
            </a:r>
          </a:p>
        </p:txBody>
      </p:sp>
      <p:sp>
        <p:nvSpPr>
          <p:cNvPr id="6" name="Rectangle 5"/>
          <p:cNvSpPr/>
          <p:nvPr/>
        </p:nvSpPr>
        <p:spPr>
          <a:xfrm>
            <a:off x="457200" y="868680"/>
            <a:ext cx="2743200" cy="36576"/>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051560"/>
            <a:ext cx="5029200"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0" y="1051560"/>
            <a:ext cx="6035040" cy="50292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51560"/>
            <a:ext cx="5029200" cy="502920"/>
          </a:xfrm>
          <a:prstGeom prst="rect">
            <a:avLst/>
          </a:prstGeom>
          <a:noFill/>
        </p:spPr>
        <p:txBody>
          <a:bodyPr wrap="square">
            <a:spAutoFit/>
          </a:bodyPr>
          <a:lstStyle/>
          <a:p>
            <a:pPr algn="ctr"/>
            <a:r>
              <a:rPr sz="1600" b="1">
                <a:solidFill>
                  <a:srgbClr val="FFFFFF"/>
                </a:solidFill>
                <a:latin typeface="Calibri"/>
              </a:rPr>
              <a:t>Problem</a:t>
            </a:r>
          </a:p>
        </p:txBody>
      </p:sp>
      <p:sp>
        <p:nvSpPr>
          <p:cNvPr id="10" name="TextBox 9"/>
          <p:cNvSpPr txBox="1"/>
          <p:nvPr/>
        </p:nvSpPr>
        <p:spPr>
          <a:xfrm>
            <a:off x="5669280" y="1051560"/>
            <a:ext cx="6035040" cy="502920"/>
          </a:xfrm>
          <a:prstGeom prst="rect">
            <a:avLst/>
          </a:prstGeom>
          <a:noFill/>
        </p:spPr>
        <p:txBody>
          <a:bodyPr wrap="square">
            <a:spAutoFit/>
          </a:bodyPr>
          <a:lstStyle/>
          <a:p>
            <a:pPr algn="ctr"/>
            <a:r>
              <a:rPr sz="1600" b="1">
                <a:solidFill>
                  <a:srgbClr val="FFFFFF"/>
                </a:solidFill>
                <a:latin typeface="Calibri"/>
              </a:rPr>
              <a:t>How ResQ Solves It</a:t>
            </a:r>
          </a:p>
        </p:txBody>
      </p:sp>
      <p:sp>
        <p:nvSpPr>
          <p:cNvPr id="11" name="Rectangle 10"/>
          <p:cNvSpPr/>
          <p:nvPr/>
        </p:nvSpPr>
        <p:spPr>
          <a:xfrm>
            <a:off x="457200" y="1645920"/>
            <a:ext cx="5029200" cy="868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0" y="1645920"/>
            <a:ext cx="6035040" cy="868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91640"/>
            <a:ext cx="4846320" cy="804672"/>
          </a:xfrm>
          <a:prstGeom prst="rect">
            <a:avLst/>
          </a:prstGeom>
          <a:noFill/>
        </p:spPr>
        <p:txBody>
          <a:bodyPr wrap="square">
            <a:spAutoFit/>
          </a:bodyPr>
          <a:lstStyle/>
          <a:p>
            <a:pPr algn="l"/>
            <a:r>
              <a:rPr sz="1300" b="0">
                <a:solidFill>
                  <a:srgbClr val="222222"/>
                </a:solidFill>
                <a:latin typeface="Calibri"/>
              </a:rPr>
              <a:t>Ambulance stuck in traffic — no one clears the road</a:t>
            </a:r>
          </a:p>
        </p:txBody>
      </p:sp>
      <p:sp>
        <p:nvSpPr>
          <p:cNvPr id="14" name="TextBox 13"/>
          <p:cNvSpPr txBox="1"/>
          <p:nvPr/>
        </p:nvSpPr>
        <p:spPr>
          <a:xfrm>
            <a:off x="5760720" y="1691640"/>
            <a:ext cx="5852160" cy="804672"/>
          </a:xfrm>
          <a:prstGeom prst="rect">
            <a:avLst/>
          </a:prstGeom>
          <a:noFill/>
        </p:spPr>
        <p:txBody>
          <a:bodyPr wrap="square">
            <a:spAutoFit/>
          </a:bodyPr>
          <a:lstStyle/>
          <a:p>
            <a:pPr algn="l"/>
            <a:r>
              <a:rPr sz="1300" b="0">
                <a:solidFill>
                  <a:srgbClr val="222222"/>
                </a:solidFill>
                <a:latin typeface="Calibri"/>
              </a:rPr>
              <a:t>Green Corridor automatically turns signals green 400m ahead of the ambulance along the entire route</a:t>
            </a:r>
          </a:p>
        </p:txBody>
      </p:sp>
      <p:sp>
        <p:nvSpPr>
          <p:cNvPr id="15" name="Rectangle 14"/>
          <p:cNvSpPr/>
          <p:nvPr/>
        </p:nvSpPr>
        <p:spPr>
          <a:xfrm>
            <a:off x="457200" y="2606040"/>
            <a:ext cx="502920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0" y="2606040"/>
            <a:ext cx="60350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2651760"/>
            <a:ext cx="4846320" cy="804672"/>
          </a:xfrm>
          <a:prstGeom prst="rect">
            <a:avLst/>
          </a:prstGeom>
          <a:noFill/>
        </p:spPr>
        <p:txBody>
          <a:bodyPr wrap="square">
            <a:spAutoFit/>
          </a:bodyPr>
          <a:lstStyle/>
          <a:p>
            <a:pPr algn="l"/>
            <a:r>
              <a:rPr sz="1300" b="0">
                <a:solidFill>
                  <a:srgbClr val="222222"/>
                </a:solidFill>
                <a:latin typeface="Calibri"/>
              </a:rPr>
              <a:t>Hospital has no information before patient arrives</a:t>
            </a:r>
          </a:p>
        </p:txBody>
      </p:sp>
      <p:sp>
        <p:nvSpPr>
          <p:cNvPr id="18" name="TextBox 17"/>
          <p:cNvSpPr txBox="1"/>
          <p:nvPr/>
        </p:nvSpPr>
        <p:spPr>
          <a:xfrm>
            <a:off x="5760720" y="2651760"/>
            <a:ext cx="5852160" cy="804672"/>
          </a:xfrm>
          <a:prstGeom prst="rect">
            <a:avLst/>
          </a:prstGeom>
          <a:noFill/>
        </p:spPr>
        <p:txBody>
          <a:bodyPr wrap="square">
            <a:spAutoFit/>
          </a:bodyPr>
          <a:lstStyle/>
          <a:p>
            <a:pPr algn="l"/>
            <a:r>
              <a:rPr sz="1300" b="0">
                <a:solidFill>
                  <a:srgbClr val="222222"/>
                </a:solidFill>
                <a:latin typeface="Calibri"/>
              </a:rPr>
              <a:t>Driver sends live vitals and ECG from the ambulance. Hospital sees everything in real time before arrival</a:t>
            </a:r>
          </a:p>
        </p:txBody>
      </p:sp>
      <p:sp>
        <p:nvSpPr>
          <p:cNvPr id="19" name="Rectangle 18"/>
          <p:cNvSpPr/>
          <p:nvPr/>
        </p:nvSpPr>
        <p:spPr>
          <a:xfrm>
            <a:off x="457200" y="3566160"/>
            <a:ext cx="5029200" cy="868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0" y="3566160"/>
            <a:ext cx="6035040" cy="868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611880"/>
            <a:ext cx="4846320" cy="804672"/>
          </a:xfrm>
          <a:prstGeom prst="rect">
            <a:avLst/>
          </a:prstGeom>
          <a:noFill/>
        </p:spPr>
        <p:txBody>
          <a:bodyPr wrap="square">
            <a:spAutoFit/>
          </a:bodyPr>
          <a:lstStyle/>
          <a:p>
            <a:pPr algn="l"/>
            <a:r>
              <a:rPr sz="1300" b="0">
                <a:solidFill>
                  <a:srgbClr val="222222"/>
                </a:solidFill>
                <a:latin typeface="Calibri"/>
              </a:rPr>
              <a:t>No system to book an ambulance quickly</a:t>
            </a:r>
          </a:p>
        </p:txBody>
      </p:sp>
      <p:sp>
        <p:nvSpPr>
          <p:cNvPr id="22" name="TextBox 21"/>
          <p:cNvSpPr txBox="1"/>
          <p:nvPr/>
        </p:nvSpPr>
        <p:spPr>
          <a:xfrm>
            <a:off x="5760720" y="3611880"/>
            <a:ext cx="5852160" cy="804672"/>
          </a:xfrm>
          <a:prstGeom prst="rect">
            <a:avLst/>
          </a:prstGeom>
          <a:noFill/>
        </p:spPr>
        <p:txBody>
          <a:bodyPr wrap="square">
            <a:spAutoFit/>
          </a:bodyPr>
          <a:lstStyle/>
          <a:p>
            <a:pPr algn="l"/>
            <a:r>
              <a:rPr sz="1300" b="0">
                <a:solidFill>
                  <a:srgbClr val="222222"/>
                </a:solidFill>
                <a:latin typeface="Calibri"/>
              </a:rPr>
              <a:t>Patient books in seconds — GPS detects location automatically, nearby ambulances shown instantly</a:t>
            </a:r>
          </a:p>
        </p:txBody>
      </p:sp>
      <p:sp>
        <p:nvSpPr>
          <p:cNvPr id="23" name="Rectangle 22"/>
          <p:cNvSpPr/>
          <p:nvPr/>
        </p:nvSpPr>
        <p:spPr>
          <a:xfrm>
            <a:off x="457200" y="4526280"/>
            <a:ext cx="502920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0" y="4526280"/>
            <a:ext cx="6035040" cy="868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572000"/>
            <a:ext cx="4846320" cy="804672"/>
          </a:xfrm>
          <a:prstGeom prst="rect">
            <a:avLst/>
          </a:prstGeom>
          <a:noFill/>
        </p:spPr>
        <p:txBody>
          <a:bodyPr wrap="square">
            <a:spAutoFit/>
          </a:bodyPr>
          <a:lstStyle/>
          <a:p>
            <a:pPr algn="l"/>
            <a:r>
              <a:rPr sz="1300" b="0">
                <a:solidFill>
                  <a:srgbClr val="222222"/>
                </a:solidFill>
                <a:latin typeface="Calibri"/>
              </a:rPr>
              <a:t>Driver has no navigation or patient data tools</a:t>
            </a:r>
          </a:p>
        </p:txBody>
      </p:sp>
      <p:sp>
        <p:nvSpPr>
          <p:cNvPr id="26" name="TextBox 25"/>
          <p:cNvSpPr txBox="1"/>
          <p:nvPr/>
        </p:nvSpPr>
        <p:spPr>
          <a:xfrm>
            <a:off x="5760720" y="4572000"/>
            <a:ext cx="5852160" cy="804672"/>
          </a:xfrm>
          <a:prstGeom prst="rect">
            <a:avLst/>
          </a:prstGeom>
          <a:noFill/>
        </p:spPr>
        <p:txBody>
          <a:bodyPr wrap="square">
            <a:spAutoFit/>
          </a:bodyPr>
          <a:lstStyle/>
          <a:p>
            <a:pPr algn="l"/>
            <a:r>
              <a:rPr sz="1300" b="0">
                <a:solidFill>
                  <a:srgbClr val="222222"/>
                </a:solidFill>
                <a:latin typeface="Calibri"/>
              </a:rPr>
              <a:t>Driver gets turn-by-turn navigation, can record vitals, stream ECG, send pre-alert, and download PDF report</a:t>
            </a:r>
          </a:p>
        </p:txBody>
      </p:sp>
      <p:sp>
        <p:nvSpPr>
          <p:cNvPr id="27" name="Rectangle 26"/>
          <p:cNvSpPr/>
          <p:nvPr/>
        </p:nvSpPr>
        <p:spPr>
          <a:xfrm>
            <a:off x="457200" y="5486400"/>
            <a:ext cx="5029200" cy="868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669280" y="5486400"/>
            <a:ext cx="6035040" cy="8686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5532120"/>
            <a:ext cx="4846320" cy="804672"/>
          </a:xfrm>
          <a:prstGeom prst="rect">
            <a:avLst/>
          </a:prstGeom>
          <a:noFill/>
        </p:spPr>
        <p:txBody>
          <a:bodyPr wrap="square">
            <a:spAutoFit/>
          </a:bodyPr>
          <a:lstStyle/>
          <a:p>
            <a:pPr algn="l"/>
            <a:r>
              <a:rPr sz="1300" b="0">
                <a:solidFill>
                  <a:srgbClr val="222222"/>
                </a:solidFill>
                <a:latin typeface="Calibri"/>
              </a:rPr>
              <a:t>Admin cannot see what is happening in the field</a:t>
            </a:r>
          </a:p>
        </p:txBody>
      </p:sp>
      <p:sp>
        <p:nvSpPr>
          <p:cNvPr id="30" name="TextBox 29"/>
          <p:cNvSpPr txBox="1"/>
          <p:nvPr/>
        </p:nvSpPr>
        <p:spPr>
          <a:xfrm>
            <a:off x="5760720" y="5532120"/>
            <a:ext cx="5852160" cy="804672"/>
          </a:xfrm>
          <a:prstGeom prst="rect">
            <a:avLst/>
          </a:prstGeom>
          <a:noFill/>
        </p:spPr>
        <p:txBody>
          <a:bodyPr wrap="square">
            <a:spAutoFit/>
          </a:bodyPr>
          <a:lstStyle/>
          <a:p>
            <a:pPr algn="l"/>
            <a:r>
              <a:rPr sz="1300" b="0">
                <a:solidFill>
                  <a:srgbClr val="222222"/>
                </a:solidFill>
                <a:latin typeface="Calibri"/>
              </a:rPr>
              <a:t>Admin dashboard shows all active emergencies live, full fleet status, and driver locations in real time</a:t>
            </a:r>
          </a:p>
        </p:txBody>
      </p:sp>
      <p:sp>
        <p:nvSpPr>
          <p:cNvPr id="31" name="TextBox 30"/>
          <p:cNvSpPr txBox="1"/>
          <p:nvPr/>
        </p:nvSpPr>
        <p:spPr>
          <a:xfrm>
            <a:off x="11430000" y="6492240"/>
            <a:ext cx="640080" cy="274320"/>
          </a:xfrm>
          <a:prstGeom prst="rect">
            <a:avLst/>
          </a:prstGeom>
          <a:noFill/>
        </p:spPr>
        <p:txBody>
          <a:bodyPr wrap="square">
            <a:spAutoFit/>
          </a:bodyPr>
          <a:lstStyle/>
          <a:p>
            <a:pPr algn="r"/>
            <a:r>
              <a:rPr sz="1000" b="0">
                <a:solidFill>
                  <a:srgbClr val="999999"/>
                </a:solidFill>
                <a:latin typeface="Calibri"/>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